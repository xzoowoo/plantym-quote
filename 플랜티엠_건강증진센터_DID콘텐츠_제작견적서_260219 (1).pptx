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62" r:id="rId5"/>
    <p:sldId id="264" r:id="rId6"/>
    <p:sldId id="263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90" d="100"/>
          <a:sy n="90" d="100"/>
        </p:scale>
        <p:origin x="1356" y="5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199084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12" Type="http://schemas.openxmlformats.org/officeDocument/2006/relationships/image" Target="../media/image30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11" Type="http://schemas.openxmlformats.org/officeDocument/2006/relationships/image" Target="../media/image29.png"/><Relationship Id="rId5" Type="http://schemas.openxmlformats.org/officeDocument/2006/relationships/image" Target="../media/image23.png"/><Relationship Id="rId10" Type="http://schemas.openxmlformats.org/officeDocument/2006/relationships/image" Target="../media/image28.png"/><Relationship Id="rId4" Type="http://schemas.openxmlformats.org/officeDocument/2006/relationships/image" Target="../media/image22.png"/><Relationship Id="rId9" Type="http://schemas.openxmlformats.org/officeDocument/2006/relationships/image" Target="../media/image2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7925105" y="0"/>
            <a:ext cx="426750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alphaModFix amt="90000"/>
          </a:blip>
          <a:srcRect l="29258" r="29258"/>
          <a:stretch/>
        </p:blipFill>
        <p:spPr>
          <a:xfrm>
            <a:off x="7925105" y="0"/>
            <a:ext cx="4267505" cy="68580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0146182" y="5800954"/>
            <a:ext cx="1476756" cy="485546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4"/>
          <p:cNvSpPr txBox="1"/>
          <p:nvPr/>
        </p:nvSpPr>
        <p:spPr>
          <a:xfrm>
            <a:off x="10374782" y="5915254"/>
            <a:ext cx="1213409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2026. 02. 19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0" y="-21265"/>
            <a:ext cx="792510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rcRect t="-384" b="-384"/>
          <a:stretch/>
        </p:blipFill>
        <p:spPr>
          <a:xfrm>
            <a:off x="571500" y="968350"/>
            <a:ext cx="952805" cy="57607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571500" y="1407262"/>
            <a:ext cx="6954012" cy="23344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100" b="1" kern="0" spc="-112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건강증진센터</a:t>
            </a:r>
            <a:endParaRPr lang="en-US" sz="5100" dirty="0"/>
          </a:p>
          <a:p>
            <a:pPr marL="0" indent="0" algn="l">
              <a:buNone/>
            </a:pPr>
            <a:r>
              <a:rPr lang="en-US" sz="5100" b="1" kern="0" spc="-112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DID 콘텐츠</a:t>
            </a:r>
            <a:endParaRPr lang="en-US" sz="5100" dirty="0"/>
          </a:p>
          <a:p>
            <a:pPr marL="0" indent="0" algn="l">
              <a:buNone/>
            </a:pPr>
            <a:r>
              <a:rPr lang="en-US" sz="5100" b="1" kern="0" spc="-112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제작 견적서</a:t>
            </a:r>
            <a:endParaRPr lang="en-US" sz="5100" dirty="0"/>
          </a:p>
        </p:txBody>
      </p:sp>
      <p:sp>
        <p:nvSpPr>
          <p:cNvPr id="11" name="Shape 7"/>
          <p:cNvSpPr/>
          <p:nvPr/>
        </p:nvSpPr>
        <p:spPr>
          <a:xfrm>
            <a:off x="571500" y="4965192"/>
            <a:ext cx="6782105" cy="9144"/>
          </a:xfrm>
          <a:prstGeom prst="rect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0"/>
          <p:cNvSpPr/>
          <p:nvPr/>
        </p:nvSpPr>
        <p:spPr>
          <a:xfrm>
            <a:off x="6019495" y="-952805"/>
            <a:ext cx="2857500" cy="2857500"/>
          </a:xfrm>
          <a:prstGeom prst="ellipse">
            <a:avLst/>
          </a:prstGeom>
          <a:noFill/>
          <a:ln w="25400">
            <a:solidFill>
              <a:srgbClr val="FFFFFF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1"/>
          <p:cNvSpPr/>
          <p:nvPr/>
        </p:nvSpPr>
        <p:spPr>
          <a:xfrm>
            <a:off x="-1429207" y="3524098"/>
            <a:ext cx="4762195" cy="4762195"/>
          </a:xfrm>
          <a:prstGeom prst="ellipse">
            <a:avLst/>
          </a:prstGeom>
          <a:noFill/>
          <a:ln w="12700">
            <a:solidFill>
              <a:srgbClr val="FFFFFF">
                <a:alpha val="3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2"/>
          <p:cNvSpPr txBox="1"/>
          <p:nvPr/>
        </p:nvSpPr>
        <p:spPr>
          <a:xfrm>
            <a:off x="571500" y="3966667"/>
            <a:ext cx="7140550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FFFFFF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성장의 </a:t>
            </a:r>
            <a:r>
              <a:rPr lang="en-US" sz="2400" dirty="0" err="1">
                <a:solidFill>
                  <a:srgbClr val="FFFFFF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발자취를</a:t>
            </a:r>
            <a:r>
              <a:rPr lang="en-US" sz="2400" dirty="0">
                <a:solidFill>
                  <a:srgbClr val="FFFFFF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2400" dirty="0" err="1">
                <a:solidFill>
                  <a:srgbClr val="FFFFFF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담은</a:t>
            </a:r>
            <a:r>
              <a:rPr lang="en-US" sz="2400" dirty="0">
                <a:solidFill>
                  <a:srgbClr val="FFFFFF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ko-KR" altLang="en-US" sz="2400" dirty="0">
                <a:solidFill>
                  <a:srgbClr val="FFFFFF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홍보 </a:t>
            </a:r>
            <a:r>
              <a:rPr lang="en-US" sz="2400" dirty="0" err="1">
                <a:solidFill>
                  <a:srgbClr val="FFFFFF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영상</a:t>
            </a:r>
            <a:r>
              <a:rPr lang="en-US" sz="2400" dirty="0">
                <a:solidFill>
                  <a:srgbClr val="FFFFFF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제</a:t>
            </a:r>
            <a:r>
              <a:rPr lang="ko-KR" altLang="en-US" sz="2400" dirty="0">
                <a:solidFill>
                  <a:srgbClr val="FFFFFF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작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Shape 2">
            <a:extLst>
              <a:ext uri="{FF2B5EF4-FFF2-40B4-BE49-F238E27FC236}">
                <a16:creationId xmlns:a16="http://schemas.microsoft.com/office/drawing/2014/main" id="{DC7EFB52-6B54-BAA9-FFF3-A2732382762A}"/>
              </a:ext>
            </a:extLst>
          </p:cNvPr>
          <p:cNvSpPr/>
          <p:nvPr/>
        </p:nvSpPr>
        <p:spPr>
          <a:xfrm>
            <a:off x="0" y="1363371"/>
            <a:ext cx="12191695" cy="549463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Shape 13">
            <a:extLst>
              <a:ext uri="{FF2B5EF4-FFF2-40B4-BE49-F238E27FC236}">
                <a16:creationId xmlns:a16="http://schemas.microsoft.com/office/drawing/2014/main" id="{A04E890A-3C41-D1F2-26E3-7ED2D74E83D3}"/>
              </a:ext>
            </a:extLst>
          </p:cNvPr>
          <p:cNvSpPr/>
          <p:nvPr/>
        </p:nvSpPr>
        <p:spPr>
          <a:xfrm>
            <a:off x="0" y="1"/>
            <a:ext cx="12191695" cy="131490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9" name="Shape 14">
            <a:extLst>
              <a:ext uri="{FF2B5EF4-FFF2-40B4-BE49-F238E27FC236}">
                <a16:creationId xmlns:a16="http://schemas.microsoft.com/office/drawing/2014/main" id="{7A2B1063-2FBE-4D56-BF1B-14A63E1D35B5}"/>
              </a:ext>
            </a:extLst>
          </p:cNvPr>
          <p:cNvSpPr/>
          <p:nvPr/>
        </p:nvSpPr>
        <p:spPr>
          <a:xfrm>
            <a:off x="0" y="1357735"/>
            <a:ext cx="12191695" cy="1920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Shape 77">
            <a:extLst>
              <a:ext uri="{FF2B5EF4-FFF2-40B4-BE49-F238E27FC236}">
                <a16:creationId xmlns:a16="http://schemas.microsoft.com/office/drawing/2014/main" id="{5817E59F-18F5-9488-40C0-C7F19443EBA4}"/>
              </a:ext>
            </a:extLst>
          </p:cNvPr>
          <p:cNvSpPr/>
          <p:nvPr/>
        </p:nvSpPr>
        <p:spPr>
          <a:xfrm>
            <a:off x="305" y="-6432"/>
            <a:ext cx="12191695" cy="6903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571500" y="381305"/>
            <a:ext cx="11354105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kern="0" spc="-75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 개요 및 분석</a:t>
            </a:r>
            <a:endParaRPr lang="en-US" sz="3100" dirty="0"/>
          </a:p>
        </p:txBody>
      </p:sp>
      <p:sp>
        <p:nvSpPr>
          <p:cNvPr id="6" name="Text 4"/>
          <p:cNvSpPr txBox="1"/>
          <p:nvPr/>
        </p:nvSpPr>
        <p:spPr>
          <a:xfrm>
            <a:off x="571195" y="951177"/>
            <a:ext cx="11239805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건강증진센터 ‘성장의 발자취’ DID 콘텐츠 제작 범위 정의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71500" y="1708162"/>
            <a:ext cx="3866998" cy="4819802"/>
          </a:xfrm>
          <a:prstGeom prst="roundRect">
            <a:avLst>
              <a:gd name="adj" fmla="val 93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866851" y="2489060"/>
            <a:ext cx="3276295" cy="1920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rcRect l="-133" r="-133"/>
          <a:stretch/>
        </p:blipFill>
        <p:spPr>
          <a:xfrm>
            <a:off x="866851" y="2061121"/>
            <a:ext cx="171907" cy="22860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133856" y="2003513"/>
            <a:ext cx="1390802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 개요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866851" y="2746921"/>
            <a:ext cx="34674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B82F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러닝타임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866851" y="3051416"/>
            <a:ext cx="339151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약 </a:t>
            </a:r>
            <a:r>
              <a:rPr lang="en-US" sz="130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20~25분</a:t>
            </a:r>
            <a:r>
              <a:rPr lang="en-US" sz="13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(Long-form)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866851" y="3364141"/>
            <a:ext cx="339151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866851" y="3816769"/>
            <a:ext cx="34674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B82F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제작 목적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866851" y="4121264"/>
            <a:ext cx="3467405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‘성장의 발자취’ 시각화 및 DID 최적화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866851" y="4433074"/>
            <a:ext cx="346740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반복 재생 환경 고려한 가독성 확보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866851" y="4885702"/>
            <a:ext cx="34674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B82F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활용 소스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866851" y="5191112"/>
            <a:ext cx="3467405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기존 </a:t>
            </a:r>
            <a:r>
              <a:rPr lang="en-US" sz="1300" dirty="0" err="1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사진·영상</a:t>
            </a:r>
            <a:r>
              <a:rPr lang="en-US" sz="13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300" dirty="0" err="1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아카이브</a:t>
            </a:r>
            <a:r>
              <a:rPr lang="en-US" sz="13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300" dirty="0" err="1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활용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866851" y="5502922"/>
            <a:ext cx="339151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고해상도 선별 및 리터칭(Retouching)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914900" y="2193709"/>
            <a:ext cx="6705295" cy="1920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4"/>
          <a:srcRect t="-45" b="-45"/>
          <a:stretch/>
        </p:blipFill>
        <p:spPr>
          <a:xfrm>
            <a:off x="4914900" y="1765769"/>
            <a:ext cx="256946" cy="228600"/>
          </a:xfrm>
          <a:prstGeom prst="rect">
            <a:avLst/>
          </a:prstGeom>
        </p:spPr>
      </p:pic>
      <p:sp>
        <p:nvSpPr>
          <p:cNvPr id="22" name="Text 18"/>
          <p:cNvSpPr txBox="1"/>
          <p:nvPr/>
        </p:nvSpPr>
        <p:spPr>
          <a:xfrm>
            <a:off x="5266944" y="1708162"/>
            <a:ext cx="1448410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 과업 범위</a:t>
            </a:r>
            <a:endParaRPr lang="en-US" sz="1800" dirty="0"/>
          </a:p>
        </p:txBody>
      </p:sp>
      <p:sp>
        <p:nvSpPr>
          <p:cNvPr id="23" name="Shape 19"/>
          <p:cNvSpPr/>
          <p:nvPr/>
        </p:nvSpPr>
        <p:spPr>
          <a:xfrm>
            <a:off x="4914900" y="2451569"/>
            <a:ext cx="3238805" cy="1923898"/>
          </a:xfrm>
          <a:prstGeom prst="roundRect">
            <a:avLst>
              <a:gd name="adj" fmla="val 282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0"/>
          <p:cNvSpPr/>
          <p:nvPr/>
        </p:nvSpPr>
        <p:spPr>
          <a:xfrm>
            <a:off x="4914900" y="2451569"/>
            <a:ext cx="38405" cy="1904695"/>
          </a:xfrm>
          <a:prstGeom prst="rect">
            <a:avLst/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1"/>
          <p:cNvSpPr/>
          <p:nvPr/>
        </p:nvSpPr>
        <p:spPr>
          <a:xfrm>
            <a:off x="5152644" y="2689313"/>
            <a:ext cx="457200" cy="457200"/>
          </a:xfrm>
          <a:prstGeom prst="roundRect">
            <a:avLst>
              <a:gd name="adj" fmla="val 41667"/>
            </a:avLst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6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286146" y="2822816"/>
            <a:ext cx="190195" cy="190195"/>
          </a:xfrm>
          <a:prstGeom prst="rect">
            <a:avLst/>
          </a:prstGeom>
        </p:spPr>
      </p:pic>
      <p:sp>
        <p:nvSpPr>
          <p:cNvPr id="27" name="Text 22"/>
          <p:cNvSpPr txBox="1"/>
          <p:nvPr/>
        </p:nvSpPr>
        <p:spPr>
          <a:xfrm>
            <a:off x="5152644" y="3299218"/>
            <a:ext cx="295351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종합 편집</a:t>
            </a:r>
            <a:endParaRPr lang="en-US" sz="1500" dirty="0"/>
          </a:p>
        </p:txBody>
      </p:sp>
      <p:sp>
        <p:nvSpPr>
          <p:cNvPr id="28" name="Text 23"/>
          <p:cNvSpPr txBox="1"/>
          <p:nvPr/>
        </p:nvSpPr>
        <p:spPr>
          <a:xfrm>
            <a:off x="5152644" y="3680523"/>
            <a:ext cx="28392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소스 컷 편집 및 배열, 색보정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챕터별 스토리텔링 구조화(0~5)</a:t>
            </a:r>
            <a:endParaRPr lang="en-US" sz="1200" dirty="0"/>
          </a:p>
        </p:txBody>
      </p:sp>
      <p:sp>
        <p:nvSpPr>
          <p:cNvPr id="29" name="Shape 24"/>
          <p:cNvSpPr/>
          <p:nvPr/>
        </p:nvSpPr>
        <p:spPr>
          <a:xfrm>
            <a:off x="8382305" y="2451569"/>
            <a:ext cx="3238805" cy="1923898"/>
          </a:xfrm>
          <a:prstGeom prst="roundRect">
            <a:avLst>
              <a:gd name="adj" fmla="val 282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5"/>
          <p:cNvSpPr/>
          <p:nvPr/>
        </p:nvSpPr>
        <p:spPr>
          <a:xfrm>
            <a:off x="8382305" y="2451569"/>
            <a:ext cx="38405" cy="1904695"/>
          </a:xfrm>
          <a:prstGeom prst="rect">
            <a:avLst/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6"/>
          <p:cNvSpPr/>
          <p:nvPr/>
        </p:nvSpPr>
        <p:spPr>
          <a:xfrm>
            <a:off x="8620049" y="2689313"/>
            <a:ext cx="457200" cy="457200"/>
          </a:xfrm>
          <a:prstGeom prst="roundRect">
            <a:avLst>
              <a:gd name="adj" fmla="val 41667"/>
            </a:avLst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2" name="Image 3" descr="preencoded.png"/>
          <p:cNvPicPr>
            <a:picLocks noChangeAspect="1"/>
          </p:cNvPicPr>
          <p:nvPr/>
        </p:nvPicPr>
        <p:blipFill>
          <a:blip r:embed="rId6"/>
          <a:srcRect l="-1282" r="-1282"/>
          <a:stretch/>
        </p:blipFill>
        <p:spPr>
          <a:xfrm>
            <a:off x="8738921" y="2822816"/>
            <a:ext cx="219456" cy="190195"/>
          </a:xfrm>
          <a:prstGeom prst="rect">
            <a:avLst/>
          </a:prstGeom>
        </p:spPr>
      </p:pic>
      <p:sp>
        <p:nvSpPr>
          <p:cNvPr id="33" name="Text 27"/>
          <p:cNvSpPr txBox="1"/>
          <p:nvPr/>
        </p:nvSpPr>
        <p:spPr>
          <a:xfrm>
            <a:off x="8620049" y="3299218"/>
            <a:ext cx="295351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2D 모션그래픽</a:t>
            </a:r>
            <a:endParaRPr lang="en-US" sz="1500" dirty="0"/>
          </a:p>
        </p:txBody>
      </p:sp>
      <p:sp>
        <p:nvSpPr>
          <p:cNvPr id="34" name="Text 28"/>
          <p:cNvSpPr txBox="1"/>
          <p:nvPr/>
        </p:nvSpPr>
        <p:spPr>
          <a:xfrm>
            <a:off x="8620049" y="3680523"/>
            <a:ext cx="28392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연혁, 타임라인, 수치 그래프(상승곡선)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정보 시각화 및 생동감 부여</a:t>
            </a:r>
            <a:endParaRPr lang="en-US" sz="1200" dirty="0"/>
          </a:p>
        </p:txBody>
      </p:sp>
      <p:sp>
        <p:nvSpPr>
          <p:cNvPr id="35" name="Shape 29"/>
          <p:cNvSpPr/>
          <p:nvPr/>
        </p:nvSpPr>
        <p:spPr>
          <a:xfrm>
            <a:off x="4914900" y="4604067"/>
            <a:ext cx="3238805" cy="1923898"/>
          </a:xfrm>
          <a:prstGeom prst="roundRect">
            <a:avLst>
              <a:gd name="adj" fmla="val 282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0"/>
          <p:cNvSpPr/>
          <p:nvPr/>
        </p:nvSpPr>
        <p:spPr>
          <a:xfrm>
            <a:off x="4914900" y="4604067"/>
            <a:ext cx="38405" cy="1904695"/>
          </a:xfrm>
          <a:prstGeom prst="rect">
            <a:avLst/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Shape 31"/>
          <p:cNvSpPr/>
          <p:nvPr/>
        </p:nvSpPr>
        <p:spPr>
          <a:xfrm>
            <a:off x="5152644" y="4841811"/>
            <a:ext cx="457200" cy="457200"/>
          </a:xfrm>
          <a:prstGeom prst="roundRect">
            <a:avLst>
              <a:gd name="adj" fmla="val 41667"/>
            </a:avLst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8" name="Image 4" descr="preencoded.png"/>
          <p:cNvPicPr>
            <a:picLocks noChangeAspect="1"/>
          </p:cNvPicPr>
          <p:nvPr/>
        </p:nvPicPr>
        <p:blipFill>
          <a:blip r:embed="rId7"/>
          <a:srcRect l="-1648" r="-1648"/>
          <a:stretch/>
        </p:blipFill>
        <p:spPr>
          <a:xfrm>
            <a:off x="5296205" y="4975313"/>
            <a:ext cx="171907" cy="190195"/>
          </a:xfrm>
          <a:prstGeom prst="rect">
            <a:avLst/>
          </a:prstGeom>
        </p:spPr>
      </p:pic>
      <p:sp>
        <p:nvSpPr>
          <p:cNvPr id="39" name="Text 32"/>
          <p:cNvSpPr txBox="1"/>
          <p:nvPr/>
        </p:nvSpPr>
        <p:spPr>
          <a:xfrm>
            <a:off x="5152644" y="5451716"/>
            <a:ext cx="295351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자막 및 타이포그래피</a:t>
            </a:r>
            <a:endParaRPr lang="en-US" sz="1500" dirty="0"/>
          </a:p>
        </p:txBody>
      </p:sp>
      <p:sp>
        <p:nvSpPr>
          <p:cNvPr id="40" name="Text 33"/>
          <p:cNvSpPr txBox="1"/>
          <p:nvPr/>
        </p:nvSpPr>
        <p:spPr>
          <a:xfrm>
            <a:off x="5152644" y="5833021"/>
            <a:ext cx="28392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키워드·숫자 중심의 디자인 자막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 err="1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화면</a:t>
            </a: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전환(Transition) 효과</a:t>
            </a:r>
            <a:endParaRPr lang="en-US" sz="1200" dirty="0"/>
          </a:p>
        </p:txBody>
      </p:sp>
      <p:sp>
        <p:nvSpPr>
          <p:cNvPr id="41" name="Shape 34"/>
          <p:cNvSpPr/>
          <p:nvPr/>
        </p:nvSpPr>
        <p:spPr>
          <a:xfrm>
            <a:off x="8382305" y="4604067"/>
            <a:ext cx="3238805" cy="1923898"/>
          </a:xfrm>
          <a:prstGeom prst="roundRect">
            <a:avLst>
              <a:gd name="adj" fmla="val 282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2" name="Shape 35"/>
          <p:cNvSpPr/>
          <p:nvPr/>
        </p:nvSpPr>
        <p:spPr>
          <a:xfrm>
            <a:off x="8382305" y="4604067"/>
            <a:ext cx="38405" cy="1904695"/>
          </a:xfrm>
          <a:prstGeom prst="rect">
            <a:avLst/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Shape 36"/>
          <p:cNvSpPr/>
          <p:nvPr/>
        </p:nvSpPr>
        <p:spPr>
          <a:xfrm>
            <a:off x="8620049" y="4841811"/>
            <a:ext cx="457200" cy="457200"/>
          </a:xfrm>
          <a:prstGeom prst="roundRect">
            <a:avLst>
              <a:gd name="adj" fmla="val 41667"/>
            </a:avLst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4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8777326" y="4975313"/>
            <a:ext cx="142646" cy="190195"/>
          </a:xfrm>
          <a:prstGeom prst="rect">
            <a:avLst/>
          </a:prstGeom>
        </p:spPr>
      </p:pic>
      <p:sp>
        <p:nvSpPr>
          <p:cNvPr id="45" name="Text 37"/>
          <p:cNvSpPr txBox="1"/>
          <p:nvPr/>
        </p:nvSpPr>
        <p:spPr>
          <a:xfrm>
            <a:off x="8620049" y="5451716"/>
            <a:ext cx="295351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오디오 &amp; 사운드</a:t>
            </a:r>
            <a:endParaRPr lang="en-US" sz="1500" dirty="0"/>
          </a:p>
        </p:txBody>
      </p:sp>
      <p:sp>
        <p:nvSpPr>
          <p:cNvPr id="46" name="Text 38"/>
          <p:cNvSpPr txBox="1"/>
          <p:nvPr/>
        </p:nvSpPr>
        <p:spPr>
          <a:xfrm>
            <a:off x="8620049" y="5833021"/>
            <a:ext cx="28392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BGM </a:t>
            </a:r>
            <a:r>
              <a:rPr lang="en-US" sz="1200" dirty="0" err="1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믹싱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hape 2">
            <a:extLst>
              <a:ext uri="{FF2B5EF4-FFF2-40B4-BE49-F238E27FC236}">
                <a16:creationId xmlns:a16="http://schemas.microsoft.com/office/drawing/2014/main" id="{4F05F5E9-2577-2477-2634-6B135F951ADD}"/>
              </a:ext>
            </a:extLst>
          </p:cNvPr>
          <p:cNvSpPr/>
          <p:nvPr/>
        </p:nvSpPr>
        <p:spPr>
          <a:xfrm>
            <a:off x="0" y="1363371"/>
            <a:ext cx="12191695" cy="549463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6" name="Shape 13">
            <a:extLst>
              <a:ext uri="{FF2B5EF4-FFF2-40B4-BE49-F238E27FC236}">
                <a16:creationId xmlns:a16="http://schemas.microsoft.com/office/drawing/2014/main" id="{3E35F2B1-FA80-7844-B9DC-3C82AB0A1AD1}"/>
              </a:ext>
            </a:extLst>
          </p:cNvPr>
          <p:cNvSpPr/>
          <p:nvPr/>
        </p:nvSpPr>
        <p:spPr>
          <a:xfrm>
            <a:off x="0" y="1"/>
            <a:ext cx="12191695" cy="131490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7" name="Shape 14">
            <a:extLst>
              <a:ext uri="{FF2B5EF4-FFF2-40B4-BE49-F238E27FC236}">
                <a16:creationId xmlns:a16="http://schemas.microsoft.com/office/drawing/2014/main" id="{CFB148FB-B9DC-B38F-6312-5B9D458E7F89}"/>
              </a:ext>
            </a:extLst>
          </p:cNvPr>
          <p:cNvSpPr/>
          <p:nvPr/>
        </p:nvSpPr>
        <p:spPr>
          <a:xfrm>
            <a:off x="0" y="1357735"/>
            <a:ext cx="12191695" cy="1920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8" name="Shape 77">
            <a:extLst>
              <a:ext uri="{FF2B5EF4-FFF2-40B4-BE49-F238E27FC236}">
                <a16:creationId xmlns:a16="http://schemas.microsoft.com/office/drawing/2014/main" id="{AB67738A-77F0-833A-08EE-1C5D4DFE6D79}"/>
              </a:ext>
            </a:extLst>
          </p:cNvPr>
          <p:cNvSpPr/>
          <p:nvPr/>
        </p:nvSpPr>
        <p:spPr>
          <a:xfrm>
            <a:off x="305" y="-6432"/>
            <a:ext cx="12191695" cy="6903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343092" y="6220206"/>
            <a:ext cx="133502" cy="13350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328915" y="6186830"/>
            <a:ext cx="4292193" cy="1947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 err="1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모션그래픽</a:t>
            </a: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작업량에 따라 후반 작업 기간(3~4주차)이 집중적으로 소요됩니다.</a:t>
            </a:r>
            <a:endParaRPr lang="en-US" sz="10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rcRect l="-9" r="-9"/>
          <a:stretch/>
        </p:blipFill>
        <p:spPr>
          <a:xfrm>
            <a:off x="571500" y="1757859"/>
            <a:ext cx="1752905" cy="400050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1162202" y="2819477"/>
            <a:ext cx="571500" cy="571500"/>
          </a:xfrm>
          <a:prstGeom prst="ellipse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347826" y="2971268"/>
            <a:ext cx="200254" cy="267005"/>
          </a:xfrm>
          <a:prstGeom prst="rect">
            <a:avLst/>
          </a:prstGeom>
        </p:spPr>
      </p:pic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rcRect t="-80" b="-80"/>
          <a:stretch/>
        </p:blipFill>
        <p:spPr>
          <a:xfrm>
            <a:off x="2538374" y="3644266"/>
            <a:ext cx="142646" cy="228600"/>
          </a:xfrm>
          <a:prstGeom prst="rect">
            <a:avLst/>
          </a:prstGeom>
        </p:spPr>
      </p:pic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4"/>
          <a:srcRect l="-9" r="-9"/>
          <a:stretch/>
        </p:blipFill>
        <p:spPr>
          <a:xfrm>
            <a:off x="2895905" y="1757859"/>
            <a:ext cx="1752905" cy="4000500"/>
          </a:xfrm>
          <a:prstGeom prst="rect">
            <a:avLst/>
          </a:prstGeom>
        </p:spPr>
      </p:pic>
      <p:sp>
        <p:nvSpPr>
          <p:cNvPr id="12" name="Shape 5"/>
          <p:cNvSpPr/>
          <p:nvPr/>
        </p:nvSpPr>
        <p:spPr>
          <a:xfrm>
            <a:off x="3486607" y="2819477"/>
            <a:ext cx="571500" cy="571500"/>
          </a:xfrm>
          <a:prstGeom prst="ellipse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3" name="Image 5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3638398" y="2971268"/>
            <a:ext cx="267005" cy="267005"/>
          </a:xfrm>
          <a:prstGeom prst="rect">
            <a:avLst/>
          </a:prstGeom>
        </p:spPr>
      </p:pic>
      <p:pic>
        <p:nvPicPr>
          <p:cNvPr id="14" name="Image 6" descr="preencoded.png"/>
          <p:cNvPicPr>
            <a:picLocks noChangeAspect="1"/>
          </p:cNvPicPr>
          <p:nvPr/>
        </p:nvPicPr>
        <p:blipFill>
          <a:blip r:embed="rId6"/>
          <a:srcRect t="-80" b="-80"/>
          <a:stretch/>
        </p:blipFill>
        <p:spPr>
          <a:xfrm>
            <a:off x="4862779" y="3644266"/>
            <a:ext cx="142646" cy="228600"/>
          </a:xfrm>
          <a:prstGeom prst="rect">
            <a:avLst/>
          </a:prstGeom>
        </p:spPr>
      </p:pic>
      <p:pic>
        <p:nvPicPr>
          <p:cNvPr id="15" name="Image 7" descr="preencoded.png"/>
          <p:cNvPicPr>
            <a:picLocks noChangeAspect="1"/>
          </p:cNvPicPr>
          <p:nvPr/>
        </p:nvPicPr>
        <p:blipFill>
          <a:blip r:embed="rId6"/>
          <a:srcRect t="-80" b="-80"/>
          <a:stretch/>
        </p:blipFill>
        <p:spPr>
          <a:xfrm>
            <a:off x="7186270" y="3644266"/>
            <a:ext cx="142646" cy="228600"/>
          </a:xfrm>
          <a:prstGeom prst="rect">
            <a:avLst/>
          </a:prstGeom>
        </p:spPr>
      </p:pic>
      <p:pic>
        <p:nvPicPr>
          <p:cNvPr id="16" name="Image 8" descr="preencoded.png"/>
          <p:cNvPicPr>
            <a:picLocks noChangeAspect="1"/>
          </p:cNvPicPr>
          <p:nvPr/>
        </p:nvPicPr>
        <p:blipFill>
          <a:blip r:embed="rId4"/>
          <a:srcRect l="-9" r="-9"/>
          <a:stretch/>
        </p:blipFill>
        <p:spPr>
          <a:xfrm>
            <a:off x="7543800" y="1757859"/>
            <a:ext cx="1752905" cy="4000500"/>
          </a:xfrm>
          <a:prstGeom prst="rect">
            <a:avLst/>
          </a:prstGeom>
        </p:spPr>
      </p:pic>
      <p:sp>
        <p:nvSpPr>
          <p:cNvPr id="17" name="Shape 6"/>
          <p:cNvSpPr/>
          <p:nvPr/>
        </p:nvSpPr>
        <p:spPr>
          <a:xfrm>
            <a:off x="8134502" y="2819477"/>
            <a:ext cx="571500" cy="571500"/>
          </a:xfrm>
          <a:prstGeom prst="ellipse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8" name="Image 9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8287207" y="2971268"/>
            <a:ext cx="267005" cy="267005"/>
          </a:xfrm>
          <a:prstGeom prst="rect">
            <a:avLst/>
          </a:prstGeom>
        </p:spPr>
      </p:pic>
      <p:pic>
        <p:nvPicPr>
          <p:cNvPr id="19" name="Image 10" descr="preencoded.png"/>
          <p:cNvPicPr>
            <a:picLocks noChangeAspect="1"/>
          </p:cNvPicPr>
          <p:nvPr/>
        </p:nvPicPr>
        <p:blipFill>
          <a:blip r:embed="rId6"/>
          <a:srcRect t="-80" b="-80"/>
          <a:stretch/>
        </p:blipFill>
        <p:spPr>
          <a:xfrm>
            <a:off x="9510674" y="3644266"/>
            <a:ext cx="142646" cy="228600"/>
          </a:xfrm>
          <a:prstGeom prst="rect">
            <a:avLst/>
          </a:prstGeom>
        </p:spPr>
      </p:pic>
      <p:pic>
        <p:nvPicPr>
          <p:cNvPr id="20" name="Image 11" descr="preencoded.png"/>
          <p:cNvPicPr>
            <a:picLocks noChangeAspect="1"/>
          </p:cNvPicPr>
          <p:nvPr/>
        </p:nvPicPr>
        <p:blipFill>
          <a:blip r:embed="rId4"/>
          <a:srcRect l="-9" r="-9"/>
          <a:stretch/>
        </p:blipFill>
        <p:spPr>
          <a:xfrm>
            <a:off x="9868205" y="1757859"/>
            <a:ext cx="1752905" cy="4000500"/>
          </a:xfrm>
          <a:prstGeom prst="rect">
            <a:avLst/>
          </a:prstGeom>
        </p:spPr>
      </p:pic>
      <p:sp>
        <p:nvSpPr>
          <p:cNvPr id="21" name="Shape 7"/>
          <p:cNvSpPr/>
          <p:nvPr/>
        </p:nvSpPr>
        <p:spPr>
          <a:xfrm>
            <a:off x="10458907" y="2819477"/>
            <a:ext cx="571500" cy="571500"/>
          </a:xfrm>
          <a:prstGeom prst="ellipse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2" name="Image 12" descr="preencoded.png"/>
          <p:cNvPicPr>
            <a:picLocks noChangeAspect="1"/>
          </p:cNvPicPr>
          <p:nvPr/>
        </p:nvPicPr>
        <p:blipFill>
          <a:blip r:embed="rId9"/>
          <a:srcRect l="-685" r="-685"/>
          <a:stretch/>
        </p:blipFill>
        <p:spPr>
          <a:xfrm>
            <a:off x="10591495" y="2971268"/>
            <a:ext cx="304495" cy="267005"/>
          </a:xfrm>
          <a:prstGeom prst="rect">
            <a:avLst/>
          </a:prstGeom>
        </p:spPr>
      </p:pic>
      <p:sp>
        <p:nvSpPr>
          <p:cNvPr id="23" name="Shape 8"/>
          <p:cNvSpPr/>
          <p:nvPr/>
        </p:nvSpPr>
        <p:spPr>
          <a:xfrm>
            <a:off x="580644" y="1767917"/>
            <a:ext cx="1733702" cy="866851"/>
          </a:xfrm>
          <a:prstGeom prst="roundRect">
            <a:avLst>
              <a:gd name="adj" fmla="val 13910"/>
            </a:avLst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4" name="Image 13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71346" y="1910564"/>
            <a:ext cx="562356" cy="276149"/>
          </a:xfrm>
          <a:prstGeom prst="rect">
            <a:avLst/>
          </a:prstGeom>
        </p:spPr>
      </p:pic>
      <p:sp>
        <p:nvSpPr>
          <p:cNvPr id="25" name="Text 9"/>
          <p:cNvSpPr/>
          <p:nvPr/>
        </p:nvSpPr>
        <p:spPr>
          <a:xfrm>
            <a:off x="1171346" y="1910564"/>
            <a:ext cx="562356" cy="2770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1주차</a:t>
            </a:r>
            <a:endParaRPr lang="en-US" sz="1000" dirty="0"/>
          </a:p>
        </p:txBody>
      </p:sp>
      <p:sp>
        <p:nvSpPr>
          <p:cNvPr id="26" name="Text 10"/>
          <p:cNvSpPr txBox="1"/>
          <p:nvPr/>
        </p:nvSpPr>
        <p:spPr>
          <a:xfrm>
            <a:off x="665683" y="2262608"/>
            <a:ext cx="15636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기획 및 구성</a:t>
            </a:r>
            <a:endParaRPr lang="en-US" sz="1300" dirty="0"/>
          </a:p>
        </p:txBody>
      </p:sp>
      <p:sp>
        <p:nvSpPr>
          <p:cNvPr id="27" name="Text 11"/>
          <p:cNvSpPr txBox="1"/>
          <p:nvPr/>
        </p:nvSpPr>
        <p:spPr>
          <a:xfrm>
            <a:off x="914400" y="3533624"/>
            <a:ext cx="1267358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소스 분류 및 화질 점검</a:t>
            </a:r>
            <a:endParaRPr lang="en-US" sz="1000" dirty="0"/>
          </a:p>
        </p:txBody>
      </p:sp>
      <p:sp>
        <p:nvSpPr>
          <p:cNvPr id="28" name="Text 12"/>
          <p:cNvSpPr txBox="1"/>
          <p:nvPr/>
        </p:nvSpPr>
        <p:spPr>
          <a:xfrm>
            <a:off x="914400" y="4029228"/>
            <a:ext cx="1267358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 err="1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시나리오</a:t>
            </a:r>
            <a:r>
              <a:rPr lang="en-US" sz="10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ko-KR" altLang="en-US" sz="10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구성</a:t>
            </a:r>
            <a:r>
              <a:rPr lang="en-US" sz="10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정리</a:t>
            </a:r>
            <a:endParaRPr lang="en-US" sz="1000" dirty="0"/>
          </a:p>
        </p:txBody>
      </p:sp>
      <p:sp>
        <p:nvSpPr>
          <p:cNvPr id="29" name="Text 13"/>
          <p:cNvSpPr txBox="1"/>
          <p:nvPr/>
        </p:nvSpPr>
        <p:spPr>
          <a:xfrm>
            <a:off x="914400" y="4523919"/>
            <a:ext cx="1267358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톤앤매너 시안(Style Frame) 확정</a:t>
            </a:r>
            <a:endParaRPr lang="en-US" sz="1000" dirty="0"/>
          </a:p>
        </p:txBody>
      </p:sp>
      <p:sp>
        <p:nvSpPr>
          <p:cNvPr id="30" name="Shape 14"/>
          <p:cNvSpPr/>
          <p:nvPr/>
        </p:nvSpPr>
        <p:spPr>
          <a:xfrm>
            <a:off x="2905049" y="1767917"/>
            <a:ext cx="1733702" cy="866851"/>
          </a:xfrm>
          <a:prstGeom prst="roundRect">
            <a:avLst>
              <a:gd name="adj" fmla="val 13910"/>
            </a:avLst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1" name="Image 14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495751" y="1910564"/>
            <a:ext cx="562356" cy="276149"/>
          </a:xfrm>
          <a:prstGeom prst="rect">
            <a:avLst/>
          </a:prstGeom>
        </p:spPr>
      </p:pic>
      <p:sp>
        <p:nvSpPr>
          <p:cNvPr id="32" name="Text 15"/>
          <p:cNvSpPr/>
          <p:nvPr/>
        </p:nvSpPr>
        <p:spPr>
          <a:xfrm>
            <a:off x="3495751" y="1910564"/>
            <a:ext cx="562356" cy="2770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2주차</a:t>
            </a:r>
            <a:endParaRPr lang="en-US" sz="1000" dirty="0"/>
          </a:p>
        </p:txBody>
      </p:sp>
      <p:sp>
        <p:nvSpPr>
          <p:cNvPr id="33" name="Text 16"/>
          <p:cNvSpPr txBox="1"/>
          <p:nvPr/>
        </p:nvSpPr>
        <p:spPr>
          <a:xfrm>
            <a:off x="2990088" y="2262608"/>
            <a:ext cx="15636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컷 편집 &amp; 디자인</a:t>
            </a:r>
            <a:endParaRPr lang="en-US" sz="1300" dirty="0"/>
          </a:p>
        </p:txBody>
      </p:sp>
      <p:sp>
        <p:nvSpPr>
          <p:cNvPr id="34" name="Text 17"/>
          <p:cNvSpPr txBox="1"/>
          <p:nvPr/>
        </p:nvSpPr>
        <p:spPr>
          <a:xfrm>
            <a:off x="3238805" y="3533624"/>
            <a:ext cx="1267358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전체 컷 편집 (OK컷 배열)</a:t>
            </a:r>
            <a:endParaRPr lang="en-US" sz="1000" dirty="0"/>
          </a:p>
        </p:txBody>
      </p:sp>
      <p:sp>
        <p:nvSpPr>
          <p:cNvPr id="35" name="Text 18"/>
          <p:cNvSpPr txBox="1"/>
          <p:nvPr/>
        </p:nvSpPr>
        <p:spPr>
          <a:xfrm>
            <a:off x="3238805" y="4029228"/>
            <a:ext cx="1267358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챕터별 키씬(Key-scene) 디자인</a:t>
            </a:r>
            <a:endParaRPr lang="en-US" sz="1000" dirty="0"/>
          </a:p>
        </p:txBody>
      </p:sp>
      <p:sp>
        <p:nvSpPr>
          <p:cNvPr id="36" name="Text 19"/>
          <p:cNvSpPr txBox="1"/>
          <p:nvPr/>
        </p:nvSpPr>
        <p:spPr>
          <a:xfrm>
            <a:off x="3238805" y="4523919"/>
            <a:ext cx="1267358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</a:rPr>
              <a:t>BGM</a:t>
            </a:r>
            <a:r>
              <a:rPr lang="ko-KR" altLang="en-US" sz="10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</a:rPr>
              <a:t> 제작 및 선별</a:t>
            </a:r>
            <a:endParaRPr lang="en-US" sz="1000" dirty="0"/>
          </a:p>
        </p:txBody>
      </p:sp>
      <p:pic>
        <p:nvPicPr>
          <p:cNvPr id="37" name="Image 15" descr="preencoded.png"/>
          <p:cNvPicPr>
            <a:picLocks noChangeAspect="1"/>
          </p:cNvPicPr>
          <p:nvPr/>
        </p:nvPicPr>
        <p:blipFill>
          <a:blip r:embed="rId11"/>
          <a:srcRect l="-9" r="-9"/>
          <a:stretch/>
        </p:blipFill>
        <p:spPr>
          <a:xfrm>
            <a:off x="5219395" y="1710310"/>
            <a:ext cx="1752905" cy="4000500"/>
          </a:xfrm>
          <a:prstGeom prst="rect">
            <a:avLst/>
          </a:prstGeom>
        </p:spPr>
      </p:pic>
      <p:sp>
        <p:nvSpPr>
          <p:cNvPr id="38" name="Shape 20"/>
          <p:cNvSpPr/>
          <p:nvPr/>
        </p:nvSpPr>
        <p:spPr>
          <a:xfrm>
            <a:off x="5810098" y="2771928"/>
            <a:ext cx="571500" cy="571500"/>
          </a:xfrm>
          <a:prstGeom prst="ellipse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9" name="Image 16" descr="preencoded.png"/>
          <p:cNvPicPr>
            <a:picLocks noChangeAspect="1"/>
          </p:cNvPicPr>
          <p:nvPr/>
        </p:nvPicPr>
        <p:blipFill>
          <a:blip r:embed="rId12"/>
          <a:srcRect l="-685" r="-685"/>
          <a:stretch/>
        </p:blipFill>
        <p:spPr>
          <a:xfrm>
            <a:off x="5943600" y="2923719"/>
            <a:ext cx="304495" cy="267005"/>
          </a:xfrm>
          <a:prstGeom prst="rect">
            <a:avLst/>
          </a:prstGeom>
        </p:spPr>
      </p:pic>
      <p:sp>
        <p:nvSpPr>
          <p:cNvPr id="40" name="Shape 21"/>
          <p:cNvSpPr/>
          <p:nvPr/>
        </p:nvSpPr>
        <p:spPr>
          <a:xfrm>
            <a:off x="5229454" y="1720368"/>
            <a:ext cx="1733702" cy="866851"/>
          </a:xfrm>
          <a:prstGeom prst="roundRect">
            <a:avLst>
              <a:gd name="adj" fmla="val 13910"/>
            </a:avLst>
          </a:prstGeom>
          <a:solidFill>
            <a:srgbClr val="1E40A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1" name="Image 17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740603" y="1863015"/>
            <a:ext cx="714146" cy="276149"/>
          </a:xfrm>
          <a:prstGeom prst="rect">
            <a:avLst/>
          </a:prstGeom>
        </p:spPr>
      </p:pic>
      <p:sp>
        <p:nvSpPr>
          <p:cNvPr id="42" name="Text 22"/>
          <p:cNvSpPr/>
          <p:nvPr/>
        </p:nvSpPr>
        <p:spPr>
          <a:xfrm>
            <a:off x="5740603" y="1863015"/>
            <a:ext cx="715061" cy="2770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3~4주차</a:t>
            </a:r>
            <a:endParaRPr lang="en-US" sz="1000" dirty="0"/>
          </a:p>
        </p:txBody>
      </p:sp>
      <p:sp>
        <p:nvSpPr>
          <p:cNvPr id="43" name="Text 23"/>
          <p:cNvSpPr txBox="1"/>
          <p:nvPr/>
        </p:nvSpPr>
        <p:spPr>
          <a:xfrm>
            <a:off x="5283403" y="2215059"/>
            <a:ext cx="162580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모션그래픽 &amp; 합성</a:t>
            </a:r>
            <a:endParaRPr lang="en-US" sz="1300" dirty="0"/>
          </a:p>
        </p:txBody>
      </p:sp>
      <p:sp>
        <p:nvSpPr>
          <p:cNvPr id="44" name="Text 24"/>
          <p:cNvSpPr txBox="1"/>
          <p:nvPr/>
        </p:nvSpPr>
        <p:spPr>
          <a:xfrm>
            <a:off x="5562295" y="3486075"/>
            <a:ext cx="1267358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[핵심]</a:t>
            </a:r>
            <a:r>
              <a:rPr lang="en-US" sz="10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연혁/지표 인포그래픽 모션</a:t>
            </a:r>
            <a:endParaRPr lang="en-US" sz="1000" dirty="0"/>
          </a:p>
        </p:txBody>
      </p:sp>
      <p:sp>
        <p:nvSpPr>
          <p:cNvPr id="45" name="Text 25"/>
          <p:cNvSpPr txBox="1"/>
          <p:nvPr/>
        </p:nvSpPr>
        <p:spPr>
          <a:xfrm>
            <a:off x="5562295" y="3981680"/>
            <a:ext cx="1267358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자막 디자인 모션 및 전환 효과</a:t>
            </a:r>
            <a:endParaRPr lang="en-US" sz="1000" dirty="0"/>
          </a:p>
        </p:txBody>
      </p:sp>
      <p:sp>
        <p:nvSpPr>
          <p:cNvPr id="46" name="Text 26"/>
          <p:cNvSpPr txBox="1"/>
          <p:nvPr/>
        </p:nvSpPr>
        <p:spPr>
          <a:xfrm>
            <a:off x="5562295" y="4476370"/>
            <a:ext cx="131307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000" dirty="0"/>
          </a:p>
        </p:txBody>
      </p:sp>
      <p:sp>
        <p:nvSpPr>
          <p:cNvPr id="47" name="Shape 27"/>
          <p:cNvSpPr/>
          <p:nvPr/>
        </p:nvSpPr>
        <p:spPr>
          <a:xfrm>
            <a:off x="7552944" y="1767917"/>
            <a:ext cx="1733702" cy="866851"/>
          </a:xfrm>
          <a:prstGeom prst="roundRect">
            <a:avLst>
              <a:gd name="adj" fmla="val 13910"/>
            </a:avLst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8" name="Image 1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143646" y="1910564"/>
            <a:ext cx="562356" cy="276149"/>
          </a:xfrm>
          <a:prstGeom prst="rect">
            <a:avLst/>
          </a:prstGeom>
        </p:spPr>
      </p:pic>
      <p:sp>
        <p:nvSpPr>
          <p:cNvPr id="49" name="Text 28"/>
          <p:cNvSpPr/>
          <p:nvPr/>
        </p:nvSpPr>
        <p:spPr>
          <a:xfrm>
            <a:off x="8143646" y="1910564"/>
            <a:ext cx="562356" cy="2770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5주차</a:t>
            </a:r>
            <a:endParaRPr lang="en-US" sz="1000" dirty="0"/>
          </a:p>
        </p:txBody>
      </p:sp>
      <p:sp>
        <p:nvSpPr>
          <p:cNvPr id="50" name="Text 29"/>
          <p:cNvSpPr txBox="1"/>
          <p:nvPr/>
        </p:nvSpPr>
        <p:spPr>
          <a:xfrm>
            <a:off x="7637983" y="2262608"/>
            <a:ext cx="15636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사운드 &amp; 시사</a:t>
            </a:r>
            <a:endParaRPr lang="en-US" sz="1300" dirty="0"/>
          </a:p>
        </p:txBody>
      </p:sp>
      <p:sp>
        <p:nvSpPr>
          <p:cNvPr id="51" name="Text 30"/>
          <p:cNvSpPr txBox="1"/>
          <p:nvPr/>
        </p:nvSpPr>
        <p:spPr>
          <a:xfrm>
            <a:off x="7886700" y="3533624"/>
            <a:ext cx="1267358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BGM 및 효과음(SFX) 믹싱</a:t>
            </a:r>
            <a:endParaRPr lang="en-US" sz="1000" dirty="0"/>
          </a:p>
        </p:txBody>
      </p:sp>
      <p:sp>
        <p:nvSpPr>
          <p:cNvPr id="52" name="Text 31"/>
          <p:cNvSpPr txBox="1"/>
          <p:nvPr/>
        </p:nvSpPr>
        <p:spPr>
          <a:xfrm>
            <a:off x="7886700" y="4029228"/>
            <a:ext cx="140909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오디오 최종 마스터링</a:t>
            </a:r>
            <a:endParaRPr lang="en-US" sz="1000" dirty="0"/>
          </a:p>
        </p:txBody>
      </p:sp>
      <p:sp>
        <p:nvSpPr>
          <p:cNvPr id="53" name="Text 32"/>
          <p:cNvSpPr txBox="1"/>
          <p:nvPr/>
        </p:nvSpPr>
        <p:spPr>
          <a:xfrm>
            <a:off x="7886700" y="4324580"/>
            <a:ext cx="1267358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1차 통합본 시사</a:t>
            </a:r>
            <a:r>
              <a:rPr lang="en-US" sz="10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및 피드백</a:t>
            </a:r>
            <a:endParaRPr lang="en-US" sz="1000" dirty="0"/>
          </a:p>
        </p:txBody>
      </p:sp>
      <p:sp>
        <p:nvSpPr>
          <p:cNvPr id="54" name="Shape 33"/>
          <p:cNvSpPr/>
          <p:nvPr/>
        </p:nvSpPr>
        <p:spPr>
          <a:xfrm>
            <a:off x="9877349" y="1767917"/>
            <a:ext cx="1733702" cy="866851"/>
          </a:xfrm>
          <a:prstGeom prst="roundRect">
            <a:avLst>
              <a:gd name="adj" fmla="val 13910"/>
            </a:avLst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5" name="Image 1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468051" y="1910564"/>
            <a:ext cx="562356" cy="276149"/>
          </a:xfrm>
          <a:prstGeom prst="rect">
            <a:avLst/>
          </a:prstGeom>
        </p:spPr>
      </p:pic>
      <p:sp>
        <p:nvSpPr>
          <p:cNvPr id="56" name="Text 34"/>
          <p:cNvSpPr/>
          <p:nvPr/>
        </p:nvSpPr>
        <p:spPr>
          <a:xfrm>
            <a:off x="10468051" y="1910564"/>
            <a:ext cx="562356" cy="2770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6주차</a:t>
            </a:r>
            <a:endParaRPr lang="en-US" sz="1000" dirty="0"/>
          </a:p>
        </p:txBody>
      </p:sp>
      <p:sp>
        <p:nvSpPr>
          <p:cNvPr id="57" name="Text 35"/>
          <p:cNvSpPr txBox="1"/>
          <p:nvPr/>
        </p:nvSpPr>
        <p:spPr>
          <a:xfrm>
            <a:off x="9962388" y="2262608"/>
            <a:ext cx="15636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수정 및 납품</a:t>
            </a:r>
            <a:endParaRPr lang="en-US" sz="1300" dirty="0"/>
          </a:p>
        </p:txBody>
      </p:sp>
      <p:sp>
        <p:nvSpPr>
          <p:cNvPr id="58" name="Text 36"/>
          <p:cNvSpPr txBox="1"/>
          <p:nvPr/>
        </p:nvSpPr>
        <p:spPr>
          <a:xfrm>
            <a:off x="10211105" y="3533624"/>
            <a:ext cx="1267358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피드백 반영 최종 수정</a:t>
            </a:r>
            <a:endParaRPr lang="en-US" sz="1000" dirty="0"/>
          </a:p>
        </p:txBody>
      </p:sp>
      <p:sp>
        <p:nvSpPr>
          <p:cNvPr id="59" name="Text 37"/>
          <p:cNvSpPr txBox="1"/>
          <p:nvPr/>
        </p:nvSpPr>
        <p:spPr>
          <a:xfrm>
            <a:off x="10211105" y="4029228"/>
            <a:ext cx="128656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DID 규격 인코딩</a:t>
            </a:r>
            <a:endParaRPr lang="en-US" sz="1000" dirty="0"/>
          </a:p>
        </p:txBody>
      </p:sp>
      <p:sp>
        <p:nvSpPr>
          <p:cNvPr id="60" name="Text 38"/>
          <p:cNvSpPr txBox="1"/>
          <p:nvPr/>
        </p:nvSpPr>
        <p:spPr>
          <a:xfrm>
            <a:off x="10211105" y="4324580"/>
            <a:ext cx="1267358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 err="1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파일</a:t>
            </a:r>
            <a:r>
              <a:rPr lang="en-US" sz="10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000" dirty="0" err="1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납품</a:t>
            </a:r>
            <a:endParaRPr lang="en-US" sz="1000" dirty="0"/>
          </a:p>
        </p:txBody>
      </p:sp>
      <p:sp>
        <p:nvSpPr>
          <p:cNvPr id="63" name="Text 41"/>
          <p:cNvSpPr txBox="1"/>
          <p:nvPr/>
        </p:nvSpPr>
        <p:spPr>
          <a:xfrm>
            <a:off x="571500" y="381305"/>
            <a:ext cx="11354105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kern="0" spc="-75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제작 일정: 6주 타임라인</a:t>
            </a:r>
            <a:endParaRPr lang="en-US" sz="3100" dirty="0"/>
          </a:p>
        </p:txBody>
      </p:sp>
      <p:sp>
        <p:nvSpPr>
          <p:cNvPr id="64" name="Text 42"/>
          <p:cNvSpPr txBox="1"/>
          <p:nvPr/>
        </p:nvSpPr>
        <p:spPr>
          <a:xfrm>
            <a:off x="580644" y="951965"/>
            <a:ext cx="11239805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기획부터 최종 납품까지 체계적인 공정 관리 (총 5단계)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Shape 2">
            <a:extLst>
              <a:ext uri="{FF2B5EF4-FFF2-40B4-BE49-F238E27FC236}">
                <a16:creationId xmlns:a16="http://schemas.microsoft.com/office/drawing/2014/main" id="{79011DC1-598A-C84A-AC5C-9CB25D1A39FF}"/>
              </a:ext>
            </a:extLst>
          </p:cNvPr>
          <p:cNvSpPr/>
          <p:nvPr/>
        </p:nvSpPr>
        <p:spPr>
          <a:xfrm>
            <a:off x="0" y="1363371"/>
            <a:ext cx="12191695" cy="549463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5" name="Shape 13">
            <a:extLst>
              <a:ext uri="{FF2B5EF4-FFF2-40B4-BE49-F238E27FC236}">
                <a16:creationId xmlns:a16="http://schemas.microsoft.com/office/drawing/2014/main" id="{B5868602-7426-0BF3-C0A3-4205E8C8FA9F}"/>
              </a:ext>
            </a:extLst>
          </p:cNvPr>
          <p:cNvSpPr/>
          <p:nvPr/>
        </p:nvSpPr>
        <p:spPr>
          <a:xfrm>
            <a:off x="0" y="1"/>
            <a:ext cx="12191695" cy="131490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6" name="Shape 14">
            <a:extLst>
              <a:ext uri="{FF2B5EF4-FFF2-40B4-BE49-F238E27FC236}">
                <a16:creationId xmlns:a16="http://schemas.microsoft.com/office/drawing/2014/main" id="{79EFD361-F830-8A0F-D0C0-5B0400CB3FC0}"/>
              </a:ext>
            </a:extLst>
          </p:cNvPr>
          <p:cNvSpPr/>
          <p:nvPr/>
        </p:nvSpPr>
        <p:spPr>
          <a:xfrm>
            <a:off x="0" y="1357735"/>
            <a:ext cx="12191695" cy="1920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1" name="Shape 77">
            <a:extLst>
              <a:ext uri="{FF2B5EF4-FFF2-40B4-BE49-F238E27FC236}">
                <a16:creationId xmlns:a16="http://schemas.microsoft.com/office/drawing/2014/main" id="{4F37E104-8AFB-BAA6-7E3F-A0C5606FCEEA}"/>
              </a:ext>
            </a:extLst>
          </p:cNvPr>
          <p:cNvSpPr/>
          <p:nvPr/>
        </p:nvSpPr>
        <p:spPr>
          <a:xfrm>
            <a:off x="305" y="-6432"/>
            <a:ext cx="12191695" cy="6903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12088B7B-E10C-D85C-1434-5321671E8928}"/>
              </a:ext>
            </a:extLst>
          </p:cNvPr>
          <p:cNvSpPr/>
          <p:nvPr/>
        </p:nvSpPr>
        <p:spPr>
          <a:xfrm>
            <a:off x="571500" y="1547165"/>
            <a:ext cx="7095744" cy="5105095"/>
          </a:xfrm>
          <a:prstGeom prst="roundRect">
            <a:avLst>
              <a:gd name="adj" fmla="val 53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0" descr="preencoded.png">
            <a:extLst>
              <a:ext uri="{FF2B5EF4-FFF2-40B4-BE49-F238E27FC236}">
                <a16:creationId xmlns:a16="http://schemas.microsoft.com/office/drawing/2014/main" id="{81BADD7C-759A-12FC-73E0-3559AC9DAD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" y="1557224"/>
            <a:ext cx="1067105" cy="580644"/>
          </a:xfrm>
          <a:prstGeom prst="rect">
            <a:avLst/>
          </a:prstGeom>
        </p:spPr>
      </p:pic>
      <p:sp>
        <p:nvSpPr>
          <p:cNvPr id="7" name="Text 4">
            <a:extLst>
              <a:ext uri="{FF2B5EF4-FFF2-40B4-BE49-F238E27FC236}">
                <a16:creationId xmlns:a16="http://schemas.microsoft.com/office/drawing/2014/main" id="{28AE732F-5EBE-8A4F-D162-0F61E34A59E3}"/>
              </a:ext>
            </a:extLst>
          </p:cNvPr>
          <p:cNvSpPr/>
          <p:nvPr/>
        </p:nvSpPr>
        <p:spPr>
          <a:xfrm>
            <a:off x="580644" y="1557224"/>
            <a:ext cx="1067105" cy="581558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E2E8F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구분</a:t>
            </a:r>
            <a:endParaRPr lang="en-US" sz="1200" dirty="0"/>
          </a:p>
        </p:txBody>
      </p:sp>
      <p:pic>
        <p:nvPicPr>
          <p:cNvPr id="8" name="Image 1" descr="preencoded.png">
            <a:extLst>
              <a:ext uri="{FF2B5EF4-FFF2-40B4-BE49-F238E27FC236}">
                <a16:creationId xmlns:a16="http://schemas.microsoft.com/office/drawing/2014/main" id="{85A0BC89-4E8F-E3F5-2942-40C1849727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1348" y="1557224"/>
            <a:ext cx="1772107" cy="580644"/>
          </a:xfrm>
          <a:prstGeom prst="rect">
            <a:avLst/>
          </a:prstGeom>
        </p:spPr>
      </p:pic>
      <p:sp>
        <p:nvSpPr>
          <p:cNvPr id="9" name="Text 5">
            <a:extLst>
              <a:ext uri="{FF2B5EF4-FFF2-40B4-BE49-F238E27FC236}">
                <a16:creationId xmlns:a16="http://schemas.microsoft.com/office/drawing/2014/main" id="{CA009D4B-B8C9-8671-CC49-CFCD2A65196F}"/>
              </a:ext>
            </a:extLst>
          </p:cNvPr>
          <p:cNvSpPr/>
          <p:nvPr/>
        </p:nvSpPr>
        <p:spPr>
          <a:xfrm>
            <a:off x="1641348" y="1557224"/>
            <a:ext cx="1772107" cy="581558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E2E8F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세부 항목</a:t>
            </a:r>
            <a:endParaRPr lang="en-US" sz="1200" dirty="0"/>
          </a:p>
        </p:txBody>
      </p:sp>
      <p:pic>
        <p:nvPicPr>
          <p:cNvPr id="10" name="Image 2" descr="preencoded.png">
            <a:extLst>
              <a:ext uri="{FF2B5EF4-FFF2-40B4-BE49-F238E27FC236}">
                <a16:creationId xmlns:a16="http://schemas.microsoft.com/office/drawing/2014/main" id="{52B2F3D3-D7EC-D341-E1A1-5ED2660C46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7969" y="1557224"/>
            <a:ext cx="2829154" cy="580644"/>
          </a:xfrm>
          <a:prstGeom prst="rect">
            <a:avLst/>
          </a:prstGeom>
        </p:spPr>
      </p:pic>
      <p:sp>
        <p:nvSpPr>
          <p:cNvPr id="11" name="Text 6">
            <a:extLst>
              <a:ext uri="{FF2B5EF4-FFF2-40B4-BE49-F238E27FC236}">
                <a16:creationId xmlns:a16="http://schemas.microsoft.com/office/drawing/2014/main" id="{27B1B457-420B-765C-F31B-3EAED4A9B0A1}"/>
              </a:ext>
            </a:extLst>
          </p:cNvPr>
          <p:cNvSpPr/>
          <p:nvPr/>
        </p:nvSpPr>
        <p:spPr>
          <a:xfrm>
            <a:off x="3407969" y="1557224"/>
            <a:ext cx="2829154" cy="581558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E2E8F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산출 근거 (비고)</a:t>
            </a:r>
            <a:endParaRPr lang="en-US" sz="1200" dirty="0"/>
          </a:p>
        </p:txBody>
      </p:sp>
      <p:pic>
        <p:nvPicPr>
          <p:cNvPr id="12" name="Image 3" descr="preencoded.png">
            <a:extLst>
              <a:ext uri="{FF2B5EF4-FFF2-40B4-BE49-F238E27FC236}">
                <a16:creationId xmlns:a16="http://schemas.microsoft.com/office/drawing/2014/main" id="{A820FF1C-12AA-2600-2168-9D67BAFFAFA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35294" y="1557224"/>
            <a:ext cx="1419149" cy="580644"/>
          </a:xfrm>
          <a:prstGeom prst="rect">
            <a:avLst/>
          </a:prstGeom>
        </p:spPr>
      </p:pic>
      <p:sp>
        <p:nvSpPr>
          <p:cNvPr id="13" name="Text 7">
            <a:extLst>
              <a:ext uri="{FF2B5EF4-FFF2-40B4-BE49-F238E27FC236}">
                <a16:creationId xmlns:a16="http://schemas.microsoft.com/office/drawing/2014/main" id="{54134B3C-DFC6-4B49-53E1-D3BD8250E390}"/>
              </a:ext>
            </a:extLst>
          </p:cNvPr>
          <p:cNvSpPr/>
          <p:nvPr/>
        </p:nvSpPr>
        <p:spPr>
          <a:xfrm>
            <a:off x="6235294" y="1557224"/>
            <a:ext cx="1420063" cy="581558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E2E8F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예상 금액 (원)</a:t>
            </a:r>
            <a:endParaRPr lang="en-US" sz="1200" dirty="0"/>
          </a:p>
        </p:txBody>
      </p:sp>
      <p:sp>
        <p:nvSpPr>
          <p:cNvPr id="14" name="Shape 8">
            <a:extLst>
              <a:ext uri="{FF2B5EF4-FFF2-40B4-BE49-F238E27FC236}">
                <a16:creationId xmlns:a16="http://schemas.microsoft.com/office/drawing/2014/main" id="{5D2B8F20-58AB-AF85-AFBD-A0942E47EF82}"/>
              </a:ext>
            </a:extLst>
          </p:cNvPr>
          <p:cNvSpPr/>
          <p:nvPr/>
        </p:nvSpPr>
        <p:spPr>
          <a:xfrm>
            <a:off x="580644" y="2890419"/>
            <a:ext cx="1067105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9">
            <a:extLst>
              <a:ext uri="{FF2B5EF4-FFF2-40B4-BE49-F238E27FC236}">
                <a16:creationId xmlns:a16="http://schemas.microsoft.com/office/drawing/2014/main" id="{61A0902E-4315-EB42-B6B7-2B070287E558}"/>
              </a:ext>
            </a:extLst>
          </p:cNvPr>
          <p:cNvSpPr txBox="1"/>
          <p:nvPr/>
        </p:nvSpPr>
        <p:spPr>
          <a:xfrm>
            <a:off x="1152144" y="2137868"/>
            <a:ext cx="553212" cy="6199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기획</a:t>
            </a:r>
            <a:endParaRPr lang="en-US" sz="1100" dirty="0"/>
          </a:p>
        </p:txBody>
      </p:sp>
      <p:sp>
        <p:nvSpPr>
          <p:cNvPr id="16" name="Shape 10">
            <a:extLst>
              <a:ext uri="{FF2B5EF4-FFF2-40B4-BE49-F238E27FC236}">
                <a16:creationId xmlns:a16="http://schemas.microsoft.com/office/drawing/2014/main" id="{79FFBB24-D404-1469-B28E-7EE563D9F731}"/>
              </a:ext>
            </a:extLst>
          </p:cNvPr>
          <p:cNvSpPr/>
          <p:nvPr/>
        </p:nvSpPr>
        <p:spPr>
          <a:xfrm>
            <a:off x="790560" y="2302971"/>
            <a:ext cx="267005" cy="267005"/>
          </a:xfrm>
          <a:prstGeom prst="roundRect">
            <a:avLst>
              <a:gd name="adj" fmla="val 73385"/>
            </a:avLst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7" name="Image 4" descr="preencoded.png">
            <a:extLst>
              <a:ext uri="{FF2B5EF4-FFF2-40B4-BE49-F238E27FC236}">
                <a16:creationId xmlns:a16="http://schemas.microsoft.com/office/drawing/2014/main" id="{CFE2FCD7-B61A-8336-30D8-809128A19A12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857311" y="2369722"/>
            <a:ext cx="133502" cy="133502"/>
          </a:xfrm>
          <a:prstGeom prst="rect">
            <a:avLst/>
          </a:prstGeom>
        </p:spPr>
      </p:pic>
      <p:sp>
        <p:nvSpPr>
          <p:cNvPr id="18" name="Shape 11">
            <a:extLst>
              <a:ext uri="{FF2B5EF4-FFF2-40B4-BE49-F238E27FC236}">
                <a16:creationId xmlns:a16="http://schemas.microsoft.com/office/drawing/2014/main" id="{BC7476A6-091C-D15B-6205-4574904C9D0E}"/>
              </a:ext>
            </a:extLst>
          </p:cNvPr>
          <p:cNvSpPr/>
          <p:nvPr/>
        </p:nvSpPr>
        <p:spPr>
          <a:xfrm>
            <a:off x="1641348" y="2890419"/>
            <a:ext cx="1772107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2">
            <a:extLst>
              <a:ext uri="{FF2B5EF4-FFF2-40B4-BE49-F238E27FC236}">
                <a16:creationId xmlns:a16="http://schemas.microsoft.com/office/drawing/2014/main" id="{F0D24147-A06D-A4EC-2167-4628AA4F844F}"/>
              </a:ext>
            </a:extLst>
          </p:cNvPr>
          <p:cNvSpPr txBox="1"/>
          <p:nvPr/>
        </p:nvSpPr>
        <p:spPr>
          <a:xfrm>
            <a:off x="1641348" y="2137868"/>
            <a:ext cx="1843430" cy="6199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구성/기획비</a:t>
            </a:r>
            <a:endParaRPr lang="en-US" sz="1100" dirty="0"/>
          </a:p>
        </p:txBody>
      </p:sp>
      <p:sp>
        <p:nvSpPr>
          <p:cNvPr id="20" name="Shape 13">
            <a:extLst>
              <a:ext uri="{FF2B5EF4-FFF2-40B4-BE49-F238E27FC236}">
                <a16:creationId xmlns:a16="http://schemas.microsoft.com/office/drawing/2014/main" id="{FD0F8A36-B6BD-76EC-BE50-0B278F7236E0}"/>
              </a:ext>
            </a:extLst>
          </p:cNvPr>
          <p:cNvSpPr/>
          <p:nvPr/>
        </p:nvSpPr>
        <p:spPr>
          <a:xfrm>
            <a:off x="3407969" y="2890419"/>
            <a:ext cx="2829154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4">
            <a:extLst>
              <a:ext uri="{FF2B5EF4-FFF2-40B4-BE49-F238E27FC236}">
                <a16:creationId xmlns:a16="http://schemas.microsoft.com/office/drawing/2014/main" id="{43513B13-D3A0-E684-C095-1E2CB9A85FFB}"/>
              </a:ext>
            </a:extLst>
          </p:cNvPr>
          <p:cNvSpPr txBox="1"/>
          <p:nvPr/>
        </p:nvSpPr>
        <p:spPr>
          <a:xfrm>
            <a:off x="3407969" y="2137868"/>
            <a:ext cx="2905963" cy="6199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20분 분량 구성 및 연출안, 기존 자료 분석</a:t>
            </a:r>
            <a:endParaRPr lang="en-US" sz="1000" dirty="0"/>
          </a:p>
        </p:txBody>
      </p:sp>
      <p:sp>
        <p:nvSpPr>
          <p:cNvPr id="22" name="Shape 15">
            <a:extLst>
              <a:ext uri="{FF2B5EF4-FFF2-40B4-BE49-F238E27FC236}">
                <a16:creationId xmlns:a16="http://schemas.microsoft.com/office/drawing/2014/main" id="{43980F52-4B06-5976-04FD-F45C03AABCBC}"/>
              </a:ext>
            </a:extLst>
          </p:cNvPr>
          <p:cNvSpPr/>
          <p:nvPr/>
        </p:nvSpPr>
        <p:spPr>
          <a:xfrm>
            <a:off x="6235294" y="2890419"/>
            <a:ext cx="1419149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16">
            <a:extLst>
              <a:ext uri="{FF2B5EF4-FFF2-40B4-BE49-F238E27FC236}">
                <a16:creationId xmlns:a16="http://schemas.microsoft.com/office/drawing/2014/main" id="{11703FAF-895A-B442-7B9C-4A12AB17EAA5}"/>
              </a:ext>
            </a:extLst>
          </p:cNvPr>
          <p:cNvSpPr txBox="1"/>
          <p:nvPr/>
        </p:nvSpPr>
        <p:spPr>
          <a:xfrm>
            <a:off x="6178601" y="2137868"/>
            <a:ext cx="1476756" cy="6199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1,500,000</a:t>
            </a:r>
            <a:endParaRPr lang="en-US" sz="1100" dirty="0"/>
          </a:p>
        </p:txBody>
      </p:sp>
      <p:sp>
        <p:nvSpPr>
          <p:cNvPr id="24" name="Shape 17">
            <a:extLst>
              <a:ext uri="{FF2B5EF4-FFF2-40B4-BE49-F238E27FC236}">
                <a16:creationId xmlns:a16="http://schemas.microsoft.com/office/drawing/2014/main" id="{05F1CB98-DA8B-1F4A-3252-1CB4BBD054E5}"/>
              </a:ext>
            </a:extLst>
          </p:cNvPr>
          <p:cNvSpPr/>
          <p:nvPr/>
        </p:nvSpPr>
        <p:spPr>
          <a:xfrm>
            <a:off x="580644" y="3386938"/>
            <a:ext cx="1067105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18">
            <a:extLst>
              <a:ext uri="{FF2B5EF4-FFF2-40B4-BE49-F238E27FC236}">
                <a16:creationId xmlns:a16="http://schemas.microsoft.com/office/drawing/2014/main" id="{B5444C7F-602A-CDE6-2B05-FD3C8212B611}"/>
              </a:ext>
            </a:extLst>
          </p:cNvPr>
          <p:cNvSpPr/>
          <p:nvPr/>
        </p:nvSpPr>
        <p:spPr>
          <a:xfrm>
            <a:off x="1641348" y="3386938"/>
            <a:ext cx="1772107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19">
            <a:extLst>
              <a:ext uri="{FF2B5EF4-FFF2-40B4-BE49-F238E27FC236}">
                <a16:creationId xmlns:a16="http://schemas.microsoft.com/office/drawing/2014/main" id="{669E344A-4C44-3D36-7179-A57621FBD669}"/>
              </a:ext>
            </a:extLst>
          </p:cNvPr>
          <p:cNvSpPr txBox="1"/>
          <p:nvPr/>
        </p:nvSpPr>
        <p:spPr>
          <a:xfrm>
            <a:off x="1641348" y="2900477"/>
            <a:ext cx="1843430" cy="3529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 err="1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시나리오</a:t>
            </a:r>
            <a:r>
              <a:rPr lang="en-US" sz="11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ko-KR" altLang="en-US" sz="11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구성</a:t>
            </a:r>
            <a:endParaRPr lang="en-US" sz="1100" dirty="0"/>
          </a:p>
        </p:txBody>
      </p:sp>
      <p:sp>
        <p:nvSpPr>
          <p:cNvPr id="27" name="Shape 20">
            <a:extLst>
              <a:ext uri="{FF2B5EF4-FFF2-40B4-BE49-F238E27FC236}">
                <a16:creationId xmlns:a16="http://schemas.microsoft.com/office/drawing/2014/main" id="{1649F500-267C-E041-1181-0972F778BD95}"/>
              </a:ext>
            </a:extLst>
          </p:cNvPr>
          <p:cNvSpPr/>
          <p:nvPr/>
        </p:nvSpPr>
        <p:spPr>
          <a:xfrm>
            <a:off x="3407969" y="3386938"/>
            <a:ext cx="2829154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1">
            <a:extLst>
              <a:ext uri="{FF2B5EF4-FFF2-40B4-BE49-F238E27FC236}">
                <a16:creationId xmlns:a16="http://schemas.microsoft.com/office/drawing/2014/main" id="{04300B89-B091-8245-1FE4-9260156B6BCD}"/>
              </a:ext>
            </a:extLst>
          </p:cNvPr>
          <p:cNvSpPr txBox="1"/>
          <p:nvPr/>
        </p:nvSpPr>
        <p:spPr>
          <a:xfrm>
            <a:off x="3407969" y="2900477"/>
            <a:ext cx="2905963" cy="3529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0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시나리오 구성 정리</a:t>
            </a:r>
            <a:endParaRPr lang="en-US" sz="1000" dirty="0"/>
          </a:p>
        </p:txBody>
      </p:sp>
      <p:sp>
        <p:nvSpPr>
          <p:cNvPr id="29" name="Shape 22">
            <a:extLst>
              <a:ext uri="{FF2B5EF4-FFF2-40B4-BE49-F238E27FC236}">
                <a16:creationId xmlns:a16="http://schemas.microsoft.com/office/drawing/2014/main" id="{BDC60D8D-43A3-19BC-311B-04B96F3414D8}"/>
              </a:ext>
            </a:extLst>
          </p:cNvPr>
          <p:cNvSpPr/>
          <p:nvPr/>
        </p:nvSpPr>
        <p:spPr>
          <a:xfrm>
            <a:off x="6235294" y="3386938"/>
            <a:ext cx="1419149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3">
            <a:extLst>
              <a:ext uri="{FF2B5EF4-FFF2-40B4-BE49-F238E27FC236}">
                <a16:creationId xmlns:a16="http://schemas.microsoft.com/office/drawing/2014/main" id="{E543CE6D-0C77-8F80-3A83-8E37ED3FE05E}"/>
              </a:ext>
            </a:extLst>
          </p:cNvPr>
          <p:cNvSpPr txBox="1"/>
          <p:nvPr/>
        </p:nvSpPr>
        <p:spPr>
          <a:xfrm>
            <a:off x="6178601" y="2900477"/>
            <a:ext cx="1476756" cy="3529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800,000</a:t>
            </a:r>
            <a:endParaRPr lang="en-US" sz="1100" dirty="0"/>
          </a:p>
        </p:txBody>
      </p:sp>
      <p:sp>
        <p:nvSpPr>
          <p:cNvPr id="31" name="Shape 24">
            <a:extLst>
              <a:ext uri="{FF2B5EF4-FFF2-40B4-BE49-F238E27FC236}">
                <a16:creationId xmlns:a16="http://schemas.microsoft.com/office/drawing/2014/main" id="{C6ACB516-3D21-DB6A-527F-111CC5EC21D8}"/>
              </a:ext>
            </a:extLst>
          </p:cNvPr>
          <p:cNvSpPr/>
          <p:nvPr/>
        </p:nvSpPr>
        <p:spPr>
          <a:xfrm>
            <a:off x="580644" y="4143147"/>
            <a:ext cx="1067105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25">
            <a:extLst>
              <a:ext uri="{FF2B5EF4-FFF2-40B4-BE49-F238E27FC236}">
                <a16:creationId xmlns:a16="http://schemas.microsoft.com/office/drawing/2014/main" id="{61598A94-F0F8-138A-27CC-FD963F92C428}"/>
              </a:ext>
            </a:extLst>
          </p:cNvPr>
          <p:cNvSpPr txBox="1"/>
          <p:nvPr/>
        </p:nvSpPr>
        <p:spPr>
          <a:xfrm>
            <a:off x="1152144" y="3390596"/>
            <a:ext cx="553212" cy="6199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그래픽/편집</a:t>
            </a:r>
            <a:endParaRPr lang="en-US" sz="1100" dirty="0"/>
          </a:p>
        </p:txBody>
      </p:sp>
      <p:sp>
        <p:nvSpPr>
          <p:cNvPr id="33" name="Shape 26">
            <a:extLst>
              <a:ext uri="{FF2B5EF4-FFF2-40B4-BE49-F238E27FC236}">
                <a16:creationId xmlns:a16="http://schemas.microsoft.com/office/drawing/2014/main" id="{8EFF491A-A939-38A2-ED56-B54AC3318506}"/>
              </a:ext>
            </a:extLst>
          </p:cNvPr>
          <p:cNvSpPr/>
          <p:nvPr/>
        </p:nvSpPr>
        <p:spPr>
          <a:xfrm>
            <a:off x="809244" y="3584449"/>
            <a:ext cx="267005" cy="267005"/>
          </a:xfrm>
          <a:prstGeom prst="roundRect">
            <a:avLst>
              <a:gd name="adj" fmla="val 73385"/>
            </a:avLst>
          </a:prstGeom>
          <a:solidFill>
            <a:srgbClr val="FDF2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4" name="Image 5" descr="preencoded.png">
            <a:extLst>
              <a:ext uri="{FF2B5EF4-FFF2-40B4-BE49-F238E27FC236}">
                <a16:creationId xmlns:a16="http://schemas.microsoft.com/office/drawing/2014/main" id="{5ABD36AB-1F3B-80C9-0655-7EB9E410B20E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875995" y="3651200"/>
            <a:ext cx="133502" cy="133502"/>
          </a:xfrm>
          <a:prstGeom prst="rect">
            <a:avLst/>
          </a:prstGeom>
        </p:spPr>
      </p:pic>
      <p:sp>
        <p:nvSpPr>
          <p:cNvPr id="35" name="Shape 27">
            <a:extLst>
              <a:ext uri="{FF2B5EF4-FFF2-40B4-BE49-F238E27FC236}">
                <a16:creationId xmlns:a16="http://schemas.microsoft.com/office/drawing/2014/main" id="{8582B2DE-B19E-6826-332C-4C5C0DC403B3}"/>
              </a:ext>
            </a:extLst>
          </p:cNvPr>
          <p:cNvSpPr/>
          <p:nvPr/>
        </p:nvSpPr>
        <p:spPr>
          <a:xfrm>
            <a:off x="1641348" y="4143147"/>
            <a:ext cx="1772107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28">
            <a:extLst>
              <a:ext uri="{FF2B5EF4-FFF2-40B4-BE49-F238E27FC236}">
                <a16:creationId xmlns:a16="http://schemas.microsoft.com/office/drawing/2014/main" id="{C6B33BD3-D427-1B2A-EEAA-8495D5CF270D}"/>
              </a:ext>
            </a:extLst>
          </p:cNvPr>
          <p:cNvSpPr txBox="1"/>
          <p:nvPr/>
        </p:nvSpPr>
        <p:spPr>
          <a:xfrm>
            <a:off x="1641348" y="3390596"/>
            <a:ext cx="1843430" cy="6199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2D 모션그래픽</a:t>
            </a:r>
            <a:endParaRPr lang="en-US" sz="1100" dirty="0"/>
          </a:p>
        </p:txBody>
      </p:sp>
      <p:sp>
        <p:nvSpPr>
          <p:cNvPr id="37" name="Shape 29">
            <a:extLst>
              <a:ext uri="{FF2B5EF4-FFF2-40B4-BE49-F238E27FC236}">
                <a16:creationId xmlns:a16="http://schemas.microsoft.com/office/drawing/2014/main" id="{FF9D2B66-36BF-7922-CC98-157FAFF0A9DA}"/>
              </a:ext>
            </a:extLst>
          </p:cNvPr>
          <p:cNvSpPr/>
          <p:nvPr/>
        </p:nvSpPr>
        <p:spPr>
          <a:xfrm>
            <a:off x="3407969" y="4143147"/>
            <a:ext cx="2829154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0">
            <a:extLst>
              <a:ext uri="{FF2B5EF4-FFF2-40B4-BE49-F238E27FC236}">
                <a16:creationId xmlns:a16="http://schemas.microsoft.com/office/drawing/2014/main" id="{C5EDD73F-777E-15C6-64C3-D20A346C2562}"/>
              </a:ext>
            </a:extLst>
          </p:cNvPr>
          <p:cNvSpPr txBox="1"/>
          <p:nvPr/>
        </p:nvSpPr>
        <p:spPr>
          <a:xfrm>
            <a:off x="3407969" y="3390596"/>
            <a:ext cx="2905963" cy="6199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인트로, 연혁, 수치 그래프 등 핵심 디자인</a:t>
            </a:r>
            <a:endParaRPr lang="en-US" sz="1000" dirty="0"/>
          </a:p>
        </p:txBody>
      </p:sp>
      <p:sp>
        <p:nvSpPr>
          <p:cNvPr id="39" name="Shape 31">
            <a:extLst>
              <a:ext uri="{FF2B5EF4-FFF2-40B4-BE49-F238E27FC236}">
                <a16:creationId xmlns:a16="http://schemas.microsoft.com/office/drawing/2014/main" id="{FFEE8D4B-D300-F3AD-6BFC-B0F95849DD07}"/>
              </a:ext>
            </a:extLst>
          </p:cNvPr>
          <p:cNvSpPr/>
          <p:nvPr/>
        </p:nvSpPr>
        <p:spPr>
          <a:xfrm>
            <a:off x="6235294" y="4143147"/>
            <a:ext cx="1419149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2">
            <a:extLst>
              <a:ext uri="{FF2B5EF4-FFF2-40B4-BE49-F238E27FC236}">
                <a16:creationId xmlns:a16="http://schemas.microsoft.com/office/drawing/2014/main" id="{4D0BAAD6-5A2A-3E4B-0EB8-3939A89D8120}"/>
              </a:ext>
            </a:extLst>
          </p:cNvPr>
          <p:cNvSpPr txBox="1"/>
          <p:nvPr/>
        </p:nvSpPr>
        <p:spPr>
          <a:xfrm>
            <a:off x="6178601" y="3390596"/>
            <a:ext cx="1476756" cy="6199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4,500,000</a:t>
            </a:r>
            <a:endParaRPr lang="en-US" sz="1100" dirty="0"/>
          </a:p>
        </p:txBody>
      </p:sp>
      <p:sp>
        <p:nvSpPr>
          <p:cNvPr id="41" name="Shape 33">
            <a:extLst>
              <a:ext uri="{FF2B5EF4-FFF2-40B4-BE49-F238E27FC236}">
                <a16:creationId xmlns:a16="http://schemas.microsoft.com/office/drawing/2014/main" id="{AA2466AE-A0C6-3175-0090-5C800725359D}"/>
              </a:ext>
            </a:extLst>
          </p:cNvPr>
          <p:cNvSpPr/>
          <p:nvPr/>
        </p:nvSpPr>
        <p:spPr>
          <a:xfrm>
            <a:off x="580644" y="4634180"/>
            <a:ext cx="1067105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Shape 34">
            <a:extLst>
              <a:ext uri="{FF2B5EF4-FFF2-40B4-BE49-F238E27FC236}">
                <a16:creationId xmlns:a16="http://schemas.microsoft.com/office/drawing/2014/main" id="{FD215B12-96A0-21E6-1867-B45241397748}"/>
              </a:ext>
            </a:extLst>
          </p:cNvPr>
          <p:cNvSpPr/>
          <p:nvPr/>
        </p:nvSpPr>
        <p:spPr>
          <a:xfrm>
            <a:off x="1641348" y="4634180"/>
            <a:ext cx="1772107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Text 35">
            <a:extLst>
              <a:ext uri="{FF2B5EF4-FFF2-40B4-BE49-F238E27FC236}">
                <a16:creationId xmlns:a16="http://schemas.microsoft.com/office/drawing/2014/main" id="{2972E533-F45D-6D01-63FF-BC060ACCFE7C}"/>
              </a:ext>
            </a:extLst>
          </p:cNvPr>
          <p:cNvSpPr txBox="1"/>
          <p:nvPr/>
        </p:nvSpPr>
        <p:spPr>
          <a:xfrm>
            <a:off x="1641348" y="4147719"/>
            <a:ext cx="1843430" cy="3529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종합 편집</a:t>
            </a:r>
            <a:endParaRPr lang="en-US" sz="1100" dirty="0"/>
          </a:p>
        </p:txBody>
      </p:sp>
      <p:sp>
        <p:nvSpPr>
          <p:cNvPr id="44" name="Shape 36">
            <a:extLst>
              <a:ext uri="{FF2B5EF4-FFF2-40B4-BE49-F238E27FC236}">
                <a16:creationId xmlns:a16="http://schemas.microsoft.com/office/drawing/2014/main" id="{4865C03C-9C99-52F4-EDAF-1A153B51785F}"/>
              </a:ext>
            </a:extLst>
          </p:cNvPr>
          <p:cNvSpPr/>
          <p:nvPr/>
        </p:nvSpPr>
        <p:spPr>
          <a:xfrm>
            <a:off x="3407969" y="4634180"/>
            <a:ext cx="2829154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Text 37">
            <a:extLst>
              <a:ext uri="{FF2B5EF4-FFF2-40B4-BE49-F238E27FC236}">
                <a16:creationId xmlns:a16="http://schemas.microsoft.com/office/drawing/2014/main" id="{425F0E15-8BDD-7D34-8FD3-6AA5B0BC82A2}"/>
              </a:ext>
            </a:extLst>
          </p:cNvPr>
          <p:cNvSpPr txBox="1"/>
          <p:nvPr/>
        </p:nvSpPr>
        <p:spPr>
          <a:xfrm>
            <a:off x="3407969" y="4147719"/>
            <a:ext cx="2905963" cy="3529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컷 편집, 색보정, 자막 디자인 및 합성</a:t>
            </a:r>
            <a:endParaRPr lang="en-US" sz="1000" dirty="0"/>
          </a:p>
        </p:txBody>
      </p:sp>
      <p:sp>
        <p:nvSpPr>
          <p:cNvPr id="46" name="Shape 38">
            <a:extLst>
              <a:ext uri="{FF2B5EF4-FFF2-40B4-BE49-F238E27FC236}">
                <a16:creationId xmlns:a16="http://schemas.microsoft.com/office/drawing/2014/main" id="{5A920DA7-73EB-4080-ABA3-51EE5D6D8F9F}"/>
              </a:ext>
            </a:extLst>
          </p:cNvPr>
          <p:cNvSpPr/>
          <p:nvPr/>
        </p:nvSpPr>
        <p:spPr>
          <a:xfrm>
            <a:off x="6235294" y="4634180"/>
            <a:ext cx="1419149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Text 39">
            <a:extLst>
              <a:ext uri="{FF2B5EF4-FFF2-40B4-BE49-F238E27FC236}">
                <a16:creationId xmlns:a16="http://schemas.microsoft.com/office/drawing/2014/main" id="{6ACEFBD5-0B63-35AB-6D2E-67CAC063D79D}"/>
              </a:ext>
            </a:extLst>
          </p:cNvPr>
          <p:cNvSpPr txBox="1"/>
          <p:nvPr/>
        </p:nvSpPr>
        <p:spPr>
          <a:xfrm>
            <a:off x="6178601" y="4147719"/>
            <a:ext cx="1476756" cy="3529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3,000,000</a:t>
            </a:r>
            <a:endParaRPr lang="en-US" sz="1100" dirty="0"/>
          </a:p>
        </p:txBody>
      </p:sp>
      <p:sp>
        <p:nvSpPr>
          <p:cNvPr id="48" name="Shape 40">
            <a:extLst>
              <a:ext uri="{FF2B5EF4-FFF2-40B4-BE49-F238E27FC236}">
                <a16:creationId xmlns:a16="http://schemas.microsoft.com/office/drawing/2014/main" id="{C0A9E282-8358-5CC3-C0ED-017DEB866DEC}"/>
              </a:ext>
            </a:extLst>
          </p:cNvPr>
          <p:cNvSpPr/>
          <p:nvPr/>
        </p:nvSpPr>
        <p:spPr>
          <a:xfrm>
            <a:off x="580644" y="5391303"/>
            <a:ext cx="1067105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Text 41">
            <a:extLst>
              <a:ext uri="{FF2B5EF4-FFF2-40B4-BE49-F238E27FC236}">
                <a16:creationId xmlns:a16="http://schemas.microsoft.com/office/drawing/2014/main" id="{6DDE1352-0005-D655-F39B-9AEC06EDFE2F}"/>
              </a:ext>
            </a:extLst>
          </p:cNvPr>
          <p:cNvSpPr txBox="1"/>
          <p:nvPr/>
        </p:nvSpPr>
        <p:spPr>
          <a:xfrm>
            <a:off x="1152144" y="4638752"/>
            <a:ext cx="553212" cy="6199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사운드</a:t>
            </a:r>
            <a:endParaRPr lang="en-US" sz="1100" dirty="0"/>
          </a:p>
        </p:txBody>
      </p:sp>
      <p:sp>
        <p:nvSpPr>
          <p:cNvPr id="50" name="Shape 42">
            <a:extLst>
              <a:ext uri="{FF2B5EF4-FFF2-40B4-BE49-F238E27FC236}">
                <a16:creationId xmlns:a16="http://schemas.microsoft.com/office/drawing/2014/main" id="{4A3EE92A-07AE-BC2C-6A58-81F844CA3FA3}"/>
              </a:ext>
            </a:extLst>
          </p:cNvPr>
          <p:cNvSpPr/>
          <p:nvPr/>
        </p:nvSpPr>
        <p:spPr>
          <a:xfrm>
            <a:off x="809244" y="4829863"/>
            <a:ext cx="267005" cy="267005"/>
          </a:xfrm>
          <a:prstGeom prst="roundRect">
            <a:avLst>
              <a:gd name="adj" fmla="val 73385"/>
            </a:avLst>
          </a:prstGeom>
          <a:solidFill>
            <a:srgbClr val="ECFD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1" name="Image 6" descr="preencoded.png">
            <a:extLst>
              <a:ext uri="{FF2B5EF4-FFF2-40B4-BE49-F238E27FC236}">
                <a16:creationId xmlns:a16="http://schemas.microsoft.com/office/drawing/2014/main" id="{73511585-6A63-C6B2-407D-282F2DA998D2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-2512" r="-2512"/>
          <a:stretch/>
        </p:blipFill>
        <p:spPr>
          <a:xfrm>
            <a:off x="890626" y="4896614"/>
            <a:ext cx="105156" cy="133502"/>
          </a:xfrm>
          <a:prstGeom prst="rect">
            <a:avLst/>
          </a:prstGeom>
        </p:spPr>
      </p:pic>
      <p:sp>
        <p:nvSpPr>
          <p:cNvPr id="52" name="Shape 43">
            <a:extLst>
              <a:ext uri="{FF2B5EF4-FFF2-40B4-BE49-F238E27FC236}">
                <a16:creationId xmlns:a16="http://schemas.microsoft.com/office/drawing/2014/main" id="{0DC67B18-11E4-D72C-189F-14EDE697DD90}"/>
              </a:ext>
            </a:extLst>
          </p:cNvPr>
          <p:cNvSpPr/>
          <p:nvPr/>
        </p:nvSpPr>
        <p:spPr>
          <a:xfrm>
            <a:off x="1641348" y="5391303"/>
            <a:ext cx="1772107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" name="Text 44">
            <a:extLst>
              <a:ext uri="{FF2B5EF4-FFF2-40B4-BE49-F238E27FC236}">
                <a16:creationId xmlns:a16="http://schemas.microsoft.com/office/drawing/2014/main" id="{8E3C501A-73A0-3C41-A9CA-A4F9455EAE11}"/>
              </a:ext>
            </a:extLst>
          </p:cNvPr>
          <p:cNvSpPr txBox="1"/>
          <p:nvPr/>
        </p:nvSpPr>
        <p:spPr>
          <a:xfrm>
            <a:off x="1641348" y="4638752"/>
            <a:ext cx="1843430" cy="6199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</a:rPr>
              <a:t>BGM</a:t>
            </a:r>
            <a:r>
              <a:rPr lang="ko-KR" altLang="en-US" sz="11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</a:rPr>
              <a:t> 제작</a:t>
            </a:r>
            <a:endParaRPr lang="en-US" sz="1100" dirty="0"/>
          </a:p>
        </p:txBody>
      </p:sp>
      <p:sp>
        <p:nvSpPr>
          <p:cNvPr id="54" name="Shape 45">
            <a:extLst>
              <a:ext uri="{FF2B5EF4-FFF2-40B4-BE49-F238E27FC236}">
                <a16:creationId xmlns:a16="http://schemas.microsoft.com/office/drawing/2014/main" id="{7625F998-8379-CAA5-844A-40BB8B510630}"/>
              </a:ext>
            </a:extLst>
          </p:cNvPr>
          <p:cNvSpPr/>
          <p:nvPr/>
        </p:nvSpPr>
        <p:spPr>
          <a:xfrm>
            <a:off x="3407969" y="5391303"/>
            <a:ext cx="2829154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5" name="Text 46">
            <a:extLst>
              <a:ext uri="{FF2B5EF4-FFF2-40B4-BE49-F238E27FC236}">
                <a16:creationId xmlns:a16="http://schemas.microsoft.com/office/drawing/2014/main" id="{B466ABD8-9AE9-CDC9-0661-574E725F89E9}"/>
              </a:ext>
            </a:extLst>
          </p:cNvPr>
          <p:cNvSpPr txBox="1"/>
          <p:nvPr/>
        </p:nvSpPr>
        <p:spPr>
          <a:xfrm>
            <a:off x="3407969" y="4638752"/>
            <a:ext cx="2905963" cy="6199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BGM </a:t>
            </a:r>
            <a:r>
              <a:rPr lang="ko-KR" altLang="en-US" sz="10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제작 및 라이선스 사용료</a:t>
            </a:r>
            <a:endParaRPr lang="en-US" sz="1000" dirty="0"/>
          </a:p>
        </p:txBody>
      </p:sp>
      <p:sp>
        <p:nvSpPr>
          <p:cNvPr id="56" name="Shape 47">
            <a:extLst>
              <a:ext uri="{FF2B5EF4-FFF2-40B4-BE49-F238E27FC236}">
                <a16:creationId xmlns:a16="http://schemas.microsoft.com/office/drawing/2014/main" id="{9E7A73E6-07C5-063B-87B7-6293D9872E37}"/>
              </a:ext>
            </a:extLst>
          </p:cNvPr>
          <p:cNvSpPr/>
          <p:nvPr/>
        </p:nvSpPr>
        <p:spPr>
          <a:xfrm>
            <a:off x="6235294" y="5391303"/>
            <a:ext cx="1419149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7" name="Text 48">
            <a:extLst>
              <a:ext uri="{FF2B5EF4-FFF2-40B4-BE49-F238E27FC236}">
                <a16:creationId xmlns:a16="http://schemas.microsoft.com/office/drawing/2014/main" id="{1742BA74-29F7-3130-2982-FB76902B52E1}"/>
              </a:ext>
            </a:extLst>
          </p:cNvPr>
          <p:cNvSpPr txBox="1"/>
          <p:nvPr/>
        </p:nvSpPr>
        <p:spPr>
          <a:xfrm>
            <a:off x="6178601" y="4638752"/>
            <a:ext cx="1476756" cy="6199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1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</a:rPr>
              <a:t>별도</a:t>
            </a:r>
            <a:endParaRPr lang="en-US" sz="1100" dirty="0"/>
          </a:p>
        </p:txBody>
      </p:sp>
      <p:sp>
        <p:nvSpPr>
          <p:cNvPr id="58" name="Shape 49">
            <a:extLst>
              <a:ext uri="{FF2B5EF4-FFF2-40B4-BE49-F238E27FC236}">
                <a16:creationId xmlns:a16="http://schemas.microsoft.com/office/drawing/2014/main" id="{69B4EA99-3332-41DD-1D23-2A023ABCA9FF}"/>
              </a:ext>
            </a:extLst>
          </p:cNvPr>
          <p:cNvSpPr/>
          <p:nvPr/>
        </p:nvSpPr>
        <p:spPr>
          <a:xfrm>
            <a:off x="580644" y="5882336"/>
            <a:ext cx="1067105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9" name="Shape 50">
            <a:extLst>
              <a:ext uri="{FF2B5EF4-FFF2-40B4-BE49-F238E27FC236}">
                <a16:creationId xmlns:a16="http://schemas.microsoft.com/office/drawing/2014/main" id="{FA872A90-A8EB-2902-35C0-C16D0EFFC8A8}"/>
              </a:ext>
            </a:extLst>
          </p:cNvPr>
          <p:cNvSpPr/>
          <p:nvPr/>
        </p:nvSpPr>
        <p:spPr>
          <a:xfrm>
            <a:off x="1641348" y="5882336"/>
            <a:ext cx="1772107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0" name="Text 51">
            <a:extLst>
              <a:ext uri="{FF2B5EF4-FFF2-40B4-BE49-F238E27FC236}">
                <a16:creationId xmlns:a16="http://schemas.microsoft.com/office/drawing/2014/main" id="{9FB0525C-F11D-8593-86CA-1044691A117E}"/>
              </a:ext>
            </a:extLst>
          </p:cNvPr>
          <p:cNvSpPr txBox="1"/>
          <p:nvPr/>
        </p:nvSpPr>
        <p:spPr>
          <a:xfrm>
            <a:off x="1641348" y="5395875"/>
            <a:ext cx="1843430" cy="3529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오디오 믹싱</a:t>
            </a:r>
            <a:endParaRPr lang="en-US" sz="1100" dirty="0"/>
          </a:p>
        </p:txBody>
      </p:sp>
      <p:sp>
        <p:nvSpPr>
          <p:cNvPr id="61" name="Shape 52">
            <a:extLst>
              <a:ext uri="{FF2B5EF4-FFF2-40B4-BE49-F238E27FC236}">
                <a16:creationId xmlns:a16="http://schemas.microsoft.com/office/drawing/2014/main" id="{88771F45-0CEA-9C2B-0CAA-6F67314D963D}"/>
              </a:ext>
            </a:extLst>
          </p:cNvPr>
          <p:cNvSpPr/>
          <p:nvPr/>
        </p:nvSpPr>
        <p:spPr>
          <a:xfrm>
            <a:off x="3407969" y="5882336"/>
            <a:ext cx="2829154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2" name="Text 53">
            <a:extLst>
              <a:ext uri="{FF2B5EF4-FFF2-40B4-BE49-F238E27FC236}">
                <a16:creationId xmlns:a16="http://schemas.microsoft.com/office/drawing/2014/main" id="{5EADE2A1-10F0-46BB-B928-C78BA91AC586}"/>
              </a:ext>
            </a:extLst>
          </p:cNvPr>
          <p:cNvSpPr txBox="1"/>
          <p:nvPr/>
        </p:nvSpPr>
        <p:spPr>
          <a:xfrm>
            <a:off x="3407969" y="5395875"/>
            <a:ext cx="2905963" cy="3529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BGM, 효과음, 마스터링 (라이선스 포함)</a:t>
            </a:r>
            <a:endParaRPr lang="en-US" sz="1000" dirty="0"/>
          </a:p>
        </p:txBody>
      </p:sp>
      <p:sp>
        <p:nvSpPr>
          <p:cNvPr id="63" name="Shape 54">
            <a:extLst>
              <a:ext uri="{FF2B5EF4-FFF2-40B4-BE49-F238E27FC236}">
                <a16:creationId xmlns:a16="http://schemas.microsoft.com/office/drawing/2014/main" id="{E6892871-8754-BD73-43C1-B31B4A6B7E6E}"/>
              </a:ext>
            </a:extLst>
          </p:cNvPr>
          <p:cNvSpPr/>
          <p:nvPr/>
        </p:nvSpPr>
        <p:spPr>
          <a:xfrm>
            <a:off x="6235294" y="5882336"/>
            <a:ext cx="1419149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4" name="Text 55">
            <a:extLst>
              <a:ext uri="{FF2B5EF4-FFF2-40B4-BE49-F238E27FC236}">
                <a16:creationId xmlns:a16="http://schemas.microsoft.com/office/drawing/2014/main" id="{987F3386-F878-AE8C-4108-C1B71948572E}"/>
              </a:ext>
            </a:extLst>
          </p:cNvPr>
          <p:cNvSpPr txBox="1"/>
          <p:nvPr/>
        </p:nvSpPr>
        <p:spPr>
          <a:xfrm>
            <a:off x="6178601" y="5395875"/>
            <a:ext cx="1476756" cy="3529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500,000</a:t>
            </a:r>
            <a:endParaRPr lang="en-US" sz="1100" dirty="0"/>
          </a:p>
        </p:txBody>
      </p:sp>
      <p:sp>
        <p:nvSpPr>
          <p:cNvPr id="65" name="Text 56">
            <a:extLst>
              <a:ext uri="{FF2B5EF4-FFF2-40B4-BE49-F238E27FC236}">
                <a16:creationId xmlns:a16="http://schemas.microsoft.com/office/drawing/2014/main" id="{761E3819-DFE8-E6B9-EDEF-2652062A042F}"/>
              </a:ext>
            </a:extLst>
          </p:cNvPr>
          <p:cNvSpPr txBox="1"/>
          <p:nvPr/>
        </p:nvSpPr>
        <p:spPr>
          <a:xfrm>
            <a:off x="1152144" y="5885993"/>
            <a:ext cx="553212" cy="7525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기타</a:t>
            </a:r>
            <a:endParaRPr lang="en-US" sz="1100" dirty="0"/>
          </a:p>
        </p:txBody>
      </p:sp>
      <p:sp>
        <p:nvSpPr>
          <p:cNvPr id="66" name="Shape 57">
            <a:extLst>
              <a:ext uri="{FF2B5EF4-FFF2-40B4-BE49-F238E27FC236}">
                <a16:creationId xmlns:a16="http://schemas.microsoft.com/office/drawing/2014/main" id="{DD6D46CC-0B33-41BC-4940-8E6125083CF4}"/>
              </a:ext>
            </a:extLst>
          </p:cNvPr>
          <p:cNvSpPr/>
          <p:nvPr/>
        </p:nvSpPr>
        <p:spPr>
          <a:xfrm>
            <a:off x="809244" y="6129224"/>
            <a:ext cx="267005" cy="267005"/>
          </a:xfrm>
          <a:prstGeom prst="roundRect">
            <a:avLst>
              <a:gd name="adj" fmla="val 73385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67" name="Image 7" descr="preencoded.png">
            <a:extLst>
              <a:ext uri="{FF2B5EF4-FFF2-40B4-BE49-F238E27FC236}">
                <a16:creationId xmlns:a16="http://schemas.microsoft.com/office/drawing/2014/main" id="{2C56BC39-AEC1-29CB-3F24-C290B3043748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t="-1100" b="-1100"/>
          <a:stretch/>
        </p:blipFill>
        <p:spPr>
          <a:xfrm>
            <a:off x="886054" y="6195975"/>
            <a:ext cx="114300" cy="133502"/>
          </a:xfrm>
          <a:prstGeom prst="rect">
            <a:avLst/>
          </a:prstGeom>
        </p:spPr>
      </p:pic>
      <p:sp>
        <p:nvSpPr>
          <p:cNvPr id="68" name="Text 58">
            <a:extLst>
              <a:ext uri="{FF2B5EF4-FFF2-40B4-BE49-F238E27FC236}">
                <a16:creationId xmlns:a16="http://schemas.microsoft.com/office/drawing/2014/main" id="{86F5F069-535B-25BA-5EE7-7B3F15F88127}"/>
              </a:ext>
            </a:extLst>
          </p:cNvPr>
          <p:cNvSpPr txBox="1"/>
          <p:nvPr/>
        </p:nvSpPr>
        <p:spPr>
          <a:xfrm>
            <a:off x="1641348" y="5885993"/>
            <a:ext cx="1843430" cy="7525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진행비/데이터</a:t>
            </a:r>
            <a:endParaRPr lang="en-US" sz="1100" dirty="0"/>
          </a:p>
        </p:txBody>
      </p:sp>
      <p:sp>
        <p:nvSpPr>
          <p:cNvPr id="69" name="Text 59">
            <a:extLst>
              <a:ext uri="{FF2B5EF4-FFF2-40B4-BE49-F238E27FC236}">
                <a16:creationId xmlns:a16="http://schemas.microsoft.com/office/drawing/2014/main" id="{3AFAD98D-6DA5-2330-76C6-E8439DE52CD7}"/>
              </a:ext>
            </a:extLst>
          </p:cNvPr>
          <p:cNvSpPr txBox="1"/>
          <p:nvPr/>
        </p:nvSpPr>
        <p:spPr>
          <a:xfrm>
            <a:off x="3407969" y="5885993"/>
            <a:ext cx="2905963" cy="7525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 관리(PM) 및 데이터 핸들링</a:t>
            </a:r>
            <a:endParaRPr lang="en-US" sz="1000" dirty="0"/>
          </a:p>
        </p:txBody>
      </p:sp>
      <p:sp>
        <p:nvSpPr>
          <p:cNvPr id="70" name="Text 60">
            <a:extLst>
              <a:ext uri="{FF2B5EF4-FFF2-40B4-BE49-F238E27FC236}">
                <a16:creationId xmlns:a16="http://schemas.microsoft.com/office/drawing/2014/main" id="{B3BC5885-8DC0-5CA6-6637-3D0B087FC884}"/>
              </a:ext>
            </a:extLst>
          </p:cNvPr>
          <p:cNvSpPr txBox="1"/>
          <p:nvPr/>
        </p:nvSpPr>
        <p:spPr>
          <a:xfrm>
            <a:off x="6178601" y="5885993"/>
            <a:ext cx="1476756" cy="7525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400,000</a:t>
            </a:r>
            <a:endParaRPr lang="en-US" sz="1100" dirty="0"/>
          </a:p>
        </p:txBody>
      </p:sp>
      <p:pic>
        <p:nvPicPr>
          <p:cNvPr id="71" name="Image 8" descr="preencoded.png">
            <a:extLst>
              <a:ext uri="{FF2B5EF4-FFF2-40B4-BE49-F238E27FC236}">
                <a16:creationId xmlns:a16="http://schemas.microsoft.com/office/drawing/2014/main" id="{4679FCD1-5CA7-C834-158F-147FBA1F5FD2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l="-11" r="-11"/>
          <a:stretch/>
        </p:blipFill>
        <p:spPr>
          <a:xfrm>
            <a:off x="8039405" y="1547165"/>
            <a:ext cx="3580790" cy="1676095"/>
          </a:xfrm>
          <a:prstGeom prst="rect">
            <a:avLst/>
          </a:prstGeom>
        </p:spPr>
      </p:pic>
      <p:sp>
        <p:nvSpPr>
          <p:cNvPr id="73" name="Text 62">
            <a:extLst>
              <a:ext uri="{FF2B5EF4-FFF2-40B4-BE49-F238E27FC236}">
                <a16:creationId xmlns:a16="http://schemas.microsoft.com/office/drawing/2014/main" id="{6BD90413-D2C5-D3F8-70D0-C4B1F4280F51}"/>
              </a:ext>
            </a:extLst>
          </p:cNvPr>
          <p:cNvSpPr txBox="1"/>
          <p:nvPr/>
        </p:nvSpPr>
        <p:spPr>
          <a:xfrm>
            <a:off x="8325612" y="1833372"/>
            <a:ext cx="320040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총 견적 합계</a:t>
            </a:r>
            <a:endParaRPr lang="en-US" sz="1300" dirty="0"/>
          </a:p>
        </p:txBody>
      </p:sp>
      <p:sp>
        <p:nvSpPr>
          <p:cNvPr id="74" name="Text 63">
            <a:extLst>
              <a:ext uri="{FF2B5EF4-FFF2-40B4-BE49-F238E27FC236}">
                <a16:creationId xmlns:a16="http://schemas.microsoft.com/office/drawing/2014/main" id="{4F9E2227-F84F-D167-8F48-A1F0560050B0}"/>
              </a:ext>
            </a:extLst>
          </p:cNvPr>
          <p:cNvSpPr txBox="1"/>
          <p:nvPr/>
        </p:nvSpPr>
        <p:spPr>
          <a:xfrm>
            <a:off x="8325612" y="2185416"/>
            <a:ext cx="29397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kern="0" spc="-75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10,700,000</a:t>
            </a:r>
            <a:endParaRPr lang="en-US" sz="3600" dirty="0"/>
          </a:p>
        </p:txBody>
      </p:sp>
      <p:sp>
        <p:nvSpPr>
          <p:cNvPr id="75" name="Text 64">
            <a:extLst>
              <a:ext uri="{FF2B5EF4-FFF2-40B4-BE49-F238E27FC236}">
                <a16:creationId xmlns:a16="http://schemas.microsoft.com/office/drawing/2014/main" id="{79CD21E3-8965-5ECD-A7B0-C4A467F1B165}"/>
              </a:ext>
            </a:extLst>
          </p:cNvPr>
          <p:cNvSpPr txBox="1"/>
          <p:nvPr/>
        </p:nvSpPr>
        <p:spPr>
          <a:xfrm>
            <a:off x="10828325" y="2347265"/>
            <a:ext cx="5907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KRW</a:t>
            </a:r>
            <a:endParaRPr lang="en-US" sz="1800" dirty="0"/>
          </a:p>
        </p:txBody>
      </p:sp>
      <p:sp>
        <p:nvSpPr>
          <p:cNvPr id="76" name="Text 65">
            <a:extLst>
              <a:ext uri="{FF2B5EF4-FFF2-40B4-BE49-F238E27FC236}">
                <a16:creationId xmlns:a16="http://schemas.microsoft.com/office/drawing/2014/main" id="{DFD61AF7-F1BB-B8E6-56B5-D5F5F57CD626}"/>
              </a:ext>
            </a:extLst>
          </p:cNvPr>
          <p:cNvSpPr txBox="1"/>
          <p:nvPr/>
        </p:nvSpPr>
        <p:spPr>
          <a:xfrm>
            <a:off x="8211312" y="2737714"/>
            <a:ext cx="312450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* VAT 별도</a:t>
            </a:r>
            <a:endParaRPr lang="en-US" sz="1000" dirty="0"/>
          </a:p>
        </p:txBody>
      </p:sp>
      <p:sp>
        <p:nvSpPr>
          <p:cNvPr id="77" name="Shape 66">
            <a:extLst>
              <a:ext uri="{FF2B5EF4-FFF2-40B4-BE49-F238E27FC236}">
                <a16:creationId xmlns:a16="http://schemas.microsoft.com/office/drawing/2014/main" id="{EB164A7A-4BF9-5A01-C4B0-7E6015D8346E}"/>
              </a:ext>
            </a:extLst>
          </p:cNvPr>
          <p:cNvSpPr/>
          <p:nvPr/>
        </p:nvSpPr>
        <p:spPr>
          <a:xfrm>
            <a:off x="8039405" y="3452775"/>
            <a:ext cx="3581705" cy="3200400"/>
          </a:xfrm>
          <a:prstGeom prst="roundRect">
            <a:avLst>
              <a:gd name="adj" fmla="val 13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8" name="Text 67">
            <a:extLst>
              <a:ext uri="{FF2B5EF4-FFF2-40B4-BE49-F238E27FC236}">
                <a16:creationId xmlns:a16="http://schemas.microsoft.com/office/drawing/2014/main" id="{810677B0-44FE-627D-CC30-49FA2CCED4E8}"/>
              </a:ext>
            </a:extLst>
          </p:cNvPr>
          <p:cNvSpPr txBox="1"/>
          <p:nvPr/>
        </p:nvSpPr>
        <p:spPr>
          <a:xfrm>
            <a:off x="8525866" y="3690519"/>
            <a:ext cx="304861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견적 산출 배경</a:t>
            </a:r>
            <a:endParaRPr lang="en-US" sz="1300" dirty="0"/>
          </a:p>
        </p:txBody>
      </p:sp>
      <p:pic>
        <p:nvPicPr>
          <p:cNvPr id="79" name="Image 9" descr="preencoded.png">
            <a:extLst>
              <a:ext uri="{FF2B5EF4-FFF2-40B4-BE49-F238E27FC236}">
                <a16:creationId xmlns:a16="http://schemas.microsoft.com/office/drawing/2014/main" id="{F404323E-85A0-6352-1C5C-326E073B3CCA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8278063" y="3733496"/>
            <a:ext cx="171907" cy="171907"/>
          </a:xfrm>
          <a:prstGeom prst="rect">
            <a:avLst/>
          </a:prstGeom>
        </p:spPr>
      </p:pic>
      <p:pic>
        <p:nvPicPr>
          <p:cNvPr id="80" name="Image 10" descr="preencoded.png">
            <a:extLst>
              <a:ext uri="{FF2B5EF4-FFF2-40B4-BE49-F238E27FC236}">
                <a16:creationId xmlns:a16="http://schemas.microsoft.com/office/drawing/2014/main" id="{B6244FAC-F651-0266-385A-5D876E5E7C4D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t="-556" b="-556"/>
          <a:stretch/>
        </p:blipFill>
        <p:spPr>
          <a:xfrm>
            <a:off x="8278063" y="4119372"/>
            <a:ext cx="123444" cy="142646"/>
          </a:xfrm>
          <a:prstGeom prst="rect">
            <a:avLst/>
          </a:prstGeom>
        </p:spPr>
      </p:pic>
      <p:sp>
        <p:nvSpPr>
          <p:cNvPr id="81" name="Text 68">
            <a:extLst>
              <a:ext uri="{FF2B5EF4-FFF2-40B4-BE49-F238E27FC236}">
                <a16:creationId xmlns:a16="http://schemas.microsoft.com/office/drawing/2014/main" id="{3DE3B6B3-661B-A639-8D13-37B147C5CC90}"/>
              </a:ext>
            </a:extLst>
          </p:cNvPr>
          <p:cNvSpPr txBox="1"/>
          <p:nvPr/>
        </p:nvSpPr>
        <p:spPr>
          <a:xfrm>
            <a:off x="8496605" y="4091026"/>
            <a:ext cx="2962656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11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직접 인건비</a:t>
            </a:r>
            <a:r>
              <a:rPr lang="en-US" altLang="ko-KR" sz="11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:</a:t>
            </a:r>
            <a:r>
              <a:rPr lang="en-US" altLang="ko-KR" sz="11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ko-KR" altLang="en-US" sz="11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시각</a:t>
            </a:r>
            <a:r>
              <a:rPr lang="en-US" altLang="ko-KR" sz="1100" dirty="0" err="1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디자이너</a:t>
            </a:r>
            <a:r>
              <a:rPr lang="en-US" altLang="ko-KR" sz="11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altLang="ko-KR" sz="1100" dirty="0" err="1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등급</a:t>
            </a:r>
            <a:r>
              <a:rPr lang="en-US" altLang="ko-KR" sz="11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altLang="ko-KR" sz="1100" dirty="0" err="1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고급</a:t>
            </a:r>
            <a:r>
              <a:rPr lang="en-US" altLang="ko-KR" sz="11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ko-KR" altLang="en-US" sz="11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및 </a:t>
            </a:r>
            <a:r>
              <a:rPr lang="en-US" altLang="ko-KR" sz="1100" dirty="0" err="1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중급</a:t>
            </a:r>
            <a:r>
              <a:rPr lang="en-US" altLang="ko-KR" sz="11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ko-KR" altLang="en-US" sz="11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기준</a:t>
            </a:r>
            <a:endParaRPr lang="en-US" altLang="ko-KR" sz="1100" dirty="0">
              <a:solidFill>
                <a:srgbClr val="64748B"/>
              </a:solidFill>
              <a:latin typeface="Noto Sans KR" pitchFamily="34" charset="0"/>
              <a:ea typeface="Noto Sans KR" pitchFamily="34" charset="-122"/>
              <a:cs typeface="Noto Sans KR" pitchFamily="34" charset="-120"/>
            </a:endParaRPr>
          </a:p>
          <a:p>
            <a:r>
              <a:rPr lang="en-US" altLang="ko-KR" sz="11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*2025년 </a:t>
            </a:r>
            <a:r>
              <a:rPr lang="ko-KR" altLang="en-US" sz="11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디자이너 </a:t>
            </a:r>
            <a:r>
              <a:rPr lang="en-US" altLang="ko-KR" sz="1100" dirty="0" err="1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노임단가</a:t>
            </a:r>
            <a:r>
              <a:rPr lang="en-US" altLang="ko-KR" sz="11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altLang="ko-KR" sz="1100" dirty="0" err="1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기준</a:t>
            </a:r>
            <a:r>
              <a:rPr lang="en-US" altLang="ko-KR" sz="11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altLang="ko-KR" sz="1100" dirty="0" err="1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적용</a:t>
            </a:r>
            <a:endParaRPr lang="en-US" altLang="ko-KR" sz="1100" dirty="0"/>
          </a:p>
          <a:p>
            <a:endParaRPr lang="en-US" altLang="ko-KR" sz="1100" dirty="0"/>
          </a:p>
        </p:txBody>
      </p:sp>
      <p:sp>
        <p:nvSpPr>
          <p:cNvPr id="83" name="Text 69">
            <a:extLst>
              <a:ext uri="{FF2B5EF4-FFF2-40B4-BE49-F238E27FC236}">
                <a16:creationId xmlns:a16="http://schemas.microsoft.com/office/drawing/2014/main" id="{F85334E3-3B0D-E1B5-04E4-90B88A42D0B8}"/>
              </a:ext>
            </a:extLst>
          </p:cNvPr>
          <p:cNvSpPr txBox="1"/>
          <p:nvPr/>
        </p:nvSpPr>
        <p:spPr>
          <a:xfrm>
            <a:off x="8496605" y="4633265"/>
            <a:ext cx="2962656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endParaRPr lang="en-US" altLang="ko-KR" sz="1100" dirty="0"/>
          </a:p>
        </p:txBody>
      </p:sp>
      <p:sp>
        <p:nvSpPr>
          <p:cNvPr id="93" name="Text 80">
            <a:extLst>
              <a:ext uri="{FF2B5EF4-FFF2-40B4-BE49-F238E27FC236}">
                <a16:creationId xmlns:a16="http://schemas.microsoft.com/office/drawing/2014/main" id="{240CDE3D-F7C1-D86B-F0F5-0EA1C5B6CC4D}"/>
              </a:ext>
            </a:extLst>
          </p:cNvPr>
          <p:cNvSpPr txBox="1"/>
          <p:nvPr/>
        </p:nvSpPr>
        <p:spPr>
          <a:xfrm>
            <a:off x="580644" y="908361"/>
            <a:ext cx="4776677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300" dirty="0"/>
          </a:p>
        </p:txBody>
      </p:sp>
      <p:sp>
        <p:nvSpPr>
          <p:cNvPr id="100" name="Text 15">
            <a:extLst>
              <a:ext uri="{FF2B5EF4-FFF2-40B4-BE49-F238E27FC236}">
                <a16:creationId xmlns:a16="http://schemas.microsoft.com/office/drawing/2014/main" id="{C21FF8DA-CB81-B091-6D4F-EB00B12A790F}"/>
              </a:ext>
            </a:extLst>
          </p:cNvPr>
          <p:cNvSpPr txBox="1"/>
          <p:nvPr/>
        </p:nvSpPr>
        <p:spPr>
          <a:xfrm>
            <a:off x="571500" y="381305"/>
            <a:ext cx="11354105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3100" b="1" kern="0" spc="-75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영상 제작 </a:t>
            </a:r>
            <a:r>
              <a:rPr lang="en-US" altLang="ko-KR" sz="3100" b="1" kern="0" spc="-75" dirty="0" err="1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견적</a:t>
            </a:r>
            <a:endParaRPr lang="en-US" altLang="ko-KR" sz="3100" dirty="0"/>
          </a:p>
        </p:txBody>
      </p:sp>
    </p:spTree>
    <p:extLst>
      <p:ext uri="{BB962C8B-B14F-4D97-AF65-F5344CB8AC3E}">
        <p14:creationId xmlns:p14="http://schemas.microsoft.com/office/powerpoint/2010/main" val="38873611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2">
            <a:extLst>
              <a:ext uri="{FF2B5EF4-FFF2-40B4-BE49-F238E27FC236}">
                <a16:creationId xmlns:a16="http://schemas.microsoft.com/office/drawing/2014/main" id="{F229F8B2-A042-89B9-4863-D7DCFEACF4F0}"/>
              </a:ext>
            </a:extLst>
          </p:cNvPr>
          <p:cNvSpPr/>
          <p:nvPr/>
        </p:nvSpPr>
        <p:spPr>
          <a:xfrm>
            <a:off x="0" y="1363371"/>
            <a:ext cx="12191695" cy="549463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3">
            <a:extLst>
              <a:ext uri="{FF2B5EF4-FFF2-40B4-BE49-F238E27FC236}">
                <a16:creationId xmlns:a16="http://schemas.microsoft.com/office/drawing/2014/main" id="{F4E2F035-7BA6-0D4D-C7EF-5F1E7F9708A9}"/>
              </a:ext>
            </a:extLst>
          </p:cNvPr>
          <p:cNvSpPr/>
          <p:nvPr/>
        </p:nvSpPr>
        <p:spPr>
          <a:xfrm>
            <a:off x="0" y="1"/>
            <a:ext cx="12191695" cy="131490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4">
            <a:extLst>
              <a:ext uri="{FF2B5EF4-FFF2-40B4-BE49-F238E27FC236}">
                <a16:creationId xmlns:a16="http://schemas.microsoft.com/office/drawing/2014/main" id="{C97BDE7F-B383-9F81-A4DB-CC02198E22A7}"/>
              </a:ext>
            </a:extLst>
          </p:cNvPr>
          <p:cNvSpPr/>
          <p:nvPr/>
        </p:nvSpPr>
        <p:spPr>
          <a:xfrm>
            <a:off x="0" y="1357735"/>
            <a:ext cx="12191695" cy="1920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2B25B58E-0C69-844B-6036-A8217F1434B5}"/>
              </a:ext>
            </a:extLst>
          </p:cNvPr>
          <p:cNvSpPr/>
          <p:nvPr/>
        </p:nvSpPr>
        <p:spPr>
          <a:xfrm>
            <a:off x="571500" y="1646835"/>
            <a:ext cx="11048695" cy="4190695"/>
          </a:xfrm>
          <a:prstGeom prst="roundRect">
            <a:avLst>
              <a:gd name="adj" fmla="val 59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6" name="Table 0">
            <a:extLst>
              <a:ext uri="{FF2B5EF4-FFF2-40B4-BE49-F238E27FC236}">
                <a16:creationId xmlns:a16="http://schemas.microsoft.com/office/drawing/2014/main" id="{E64D3A20-D2D2-9FF2-669C-612F5CDADF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533298"/>
              </p:ext>
            </p:extLst>
          </p:nvPr>
        </p:nvGraphicFramePr>
        <p:xfrm>
          <a:off x="580644" y="1656893"/>
          <a:ext cx="11029492" cy="4175154"/>
        </p:xfrm>
        <a:graphic>
          <a:graphicData uri="http://schemas.openxmlformats.org/drawingml/2006/table">
            <a:tbl>
              <a:tblPr/>
              <a:tblGrid>
                <a:gridCol w="9381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602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81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0817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0817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0817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0817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76022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6360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475569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구분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5098" marR="95098" marT="114300" marB="114300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475569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세부 항목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5098" marR="95098" marT="114300" marB="114300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475569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투입 공수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5098" marR="95098" marT="114300" marB="114300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475569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적용 단가 (원)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5098" marR="95098" marT="114300" marB="114300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475569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① 직접 인건비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5098" marR="95098" marT="114300" marB="114300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475569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② 제경비/기술료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5098" marR="95098" marT="114300" marB="114300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475569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최종 견적 (원)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5098" marR="95098" marT="114300" marB="114300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475569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비고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5098" marR="95098" marT="114300" marB="114300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360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3B82F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기획</a:t>
                      </a:r>
                      <a:endParaRPr lang="en-US" sz="1200" dirty="0"/>
                    </a:p>
                  </a:txBody>
                  <a:tcPr marL="142646" marR="142646" marT="95098" marB="95098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33415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구성/기획 (PM)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2646" marR="142646" marT="95098" marB="95098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5일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2646" marR="142646" marT="95098" marB="95098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224,887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2646" marR="142646" marT="95098" marB="95098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33415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1,124,435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2646" marR="142646" marT="95098" marB="95098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375,565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2646" marR="142646" marT="95098" marB="95098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33415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1,500,000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2646" marR="142646" marT="95098" marB="95098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900" dirty="0">
                          <a:solidFill>
                            <a:srgbClr val="33415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고급디자이너 적용</a:t>
                      </a:r>
                      <a:endParaRPr lang="en-US" altLang="ko-KR" sz="900" dirty="0">
                        <a:solidFill>
                          <a:srgbClr val="334155"/>
                        </a:solidFill>
                        <a:latin typeface="Noto Sans KR" pitchFamily="34" charset="0"/>
                        <a:ea typeface="Noto Sans KR" pitchFamily="34" charset="-122"/>
                        <a:cs typeface="Noto Sans KR" pitchFamily="34" charset="-12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>
                          <a:solidFill>
                            <a:srgbClr val="33415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(</a:t>
                      </a:r>
                      <a:r>
                        <a:rPr lang="en-US" altLang="ko-KR" sz="900" dirty="0" err="1">
                          <a:solidFill>
                            <a:srgbClr val="33415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제경비</a:t>
                      </a:r>
                      <a:r>
                        <a:rPr lang="en-US" altLang="ko-KR" sz="900" dirty="0">
                          <a:solidFill>
                            <a:srgbClr val="33415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33%)</a:t>
                      </a:r>
                      <a:endParaRPr lang="en-US" altLang="ko-KR" sz="1200" dirty="0"/>
                    </a:p>
                  </a:txBody>
                  <a:tcPr marL="142646" marR="142646" marT="95098" marB="95098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360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2646" marR="142646" marT="95098" marB="95098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 err="1">
                          <a:solidFill>
                            <a:srgbClr val="33415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시나리오</a:t>
                      </a:r>
                      <a:r>
                        <a:rPr lang="en-US" sz="1050" b="1" dirty="0">
                          <a:solidFill>
                            <a:srgbClr val="33415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</a:t>
                      </a:r>
                      <a:r>
                        <a:rPr lang="ko-KR" altLang="en-US" sz="1050" b="1" dirty="0">
                          <a:solidFill>
                            <a:srgbClr val="33415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구성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2646" marR="142646" marT="95098" marB="95098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4일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2646" marR="142646" marT="95098" marB="95098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200,000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2646" marR="142646" marT="95098" marB="95098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33415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800,000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2646" marR="142646" marT="95098" marB="95098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-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2646" marR="142646" marT="95098" marB="95098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33415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800,000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2646" marR="142646" marT="95098" marB="95098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2646" marR="142646" marT="95098" marB="95098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360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DB277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그래픽</a:t>
                      </a:r>
                      <a:endParaRPr lang="en-US" sz="1200" dirty="0"/>
                    </a:p>
                  </a:txBody>
                  <a:tcPr marL="142646" marR="142646" marT="95098" marB="95098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33415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2D 모션그래픽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2646" marR="142646" marT="95098" marB="95098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15일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2646" marR="142646" marT="95098" marB="95098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224,887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2646" marR="142646" marT="95098" marB="95098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33415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3,373,305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2646" marR="142646" marT="95098" marB="95098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1,126,695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2646" marR="142646" marT="95098" marB="95098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33415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4,500,000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2646" marR="142646" marT="95098" marB="95098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900" dirty="0">
                          <a:solidFill>
                            <a:srgbClr val="33415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고급</a:t>
                      </a:r>
                      <a:r>
                        <a:rPr lang="en-US" altLang="ko-KR" sz="900" dirty="0">
                          <a:solidFill>
                            <a:srgbClr val="33415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, </a:t>
                      </a:r>
                      <a:r>
                        <a:rPr lang="en-US" sz="900" dirty="0" err="1">
                          <a:solidFill>
                            <a:srgbClr val="33415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중급</a:t>
                      </a:r>
                      <a:r>
                        <a:rPr lang="en-US" sz="900" dirty="0">
                          <a:solidFill>
                            <a:srgbClr val="33415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디자이너 적용</a:t>
                      </a:r>
                      <a:endParaRPr lang="en-US" sz="1200" dirty="0"/>
                    </a:p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(</a:t>
                      </a:r>
                      <a:r>
                        <a:rPr lang="en-US" sz="900" dirty="0" err="1">
                          <a:solidFill>
                            <a:srgbClr val="33415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제경비</a:t>
                      </a:r>
                      <a:r>
                        <a:rPr lang="en-US" sz="900" dirty="0">
                          <a:solidFill>
                            <a:srgbClr val="33415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33%)</a:t>
                      </a:r>
                      <a:endParaRPr lang="en-US" sz="1200" dirty="0"/>
                    </a:p>
                  </a:txBody>
                  <a:tcPr marL="142646" marR="142646" marT="95098" marB="95098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360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편집</a:t>
                      </a:r>
                      <a:endParaRPr lang="en-US" sz="1200" dirty="0"/>
                    </a:p>
                  </a:txBody>
                  <a:tcPr marL="142646" marR="142646" marT="95098" marB="95098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33415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종합 편집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2646" marR="142646" marT="95098" marB="95098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10일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2646" marR="142646" marT="95098" marB="95098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224,887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2646" marR="142646" marT="95098" marB="95098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33415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2,248,870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2646" marR="142646" marT="95098" marB="95098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751,130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2646" marR="142646" marT="95098" marB="95098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33415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3,000,000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2646" marR="142646" marT="95098" marB="95098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900" dirty="0">
                          <a:solidFill>
                            <a:srgbClr val="33415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고급</a:t>
                      </a:r>
                      <a:r>
                        <a:rPr lang="en-US" altLang="ko-KR" sz="900" dirty="0">
                          <a:solidFill>
                            <a:srgbClr val="33415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, </a:t>
                      </a:r>
                      <a:r>
                        <a:rPr lang="en-US" sz="900" dirty="0" err="1">
                          <a:solidFill>
                            <a:srgbClr val="33415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중급</a:t>
                      </a:r>
                      <a:r>
                        <a:rPr lang="en-US" sz="900" dirty="0">
                          <a:solidFill>
                            <a:srgbClr val="33415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디자이너 적용</a:t>
                      </a:r>
                      <a:endParaRPr lang="en-US" sz="1200" dirty="0"/>
                    </a:p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(</a:t>
                      </a:r>
                      <a:r>
                        <a:rPr lang="en-US" sz="900" dirty="0" err="1">
                          <a:solidFill>
                            <a:srgbClr val="33415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제경비</a:t>
                      </a:r>
                      <a:r>
                        <a:rPr lang="en-US" sz="900" dirty="0">
                          <a:solidFill>
                            <a:srgbClr val="33415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33%)</a:t>
                      </a:r>
                      <a:endParaRPr lang="en-US" sz="1200" dirty="0"/>
                    </a:p>
                  </a:txBody>
                  <a:tcPr marL="142646" marR="142646" marT="95098" marB="95098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360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59669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사운드</a:t>
                      </a:r>
                      <a:endParaRPr lang="en-US" sz="1200" dirty="0"/>
                    </a:p>
                  </a:txBody>
                  <a:tcPr marL="142646" marR="142646" marT="95098" marB="95098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33415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charset="0"/>
                        </a:rPr>
                        <a:t>BGM </a:t>
                      </a:r>
                      <a:r>
                        <a:rPr lang="ko-KR" altLang="en-US" sz="1050" b="1" dirty="0">
                          <a:solidFill>
                            <a:srgbClr val="33415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charset="0"/>
                        </a:rPr>
                        <a:t>제작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2646" marR="142646" marT="95098" marB="95098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1식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2646" marR="142646" marT="95098" marB="95098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-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2646" marR="142646" marT="95098" marB="95098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33415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-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2646" marR="142646" marT="95098" marB="95098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-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2646" marR="142646" marT="95098" marB="95098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ko-KR" altLang="en-US" sz="1050" b="1" dirty="0">
                          <a:solidFill>
                            <a:srgbClr val="33415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별도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2646" marR="142646" marT="95098" marB="95098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>
                          <a:solidFill>
                            <a:srgbClr val="33415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제작 및 라이선스 사용료</a:t>
                      </a:r>
                      <a:endParaRPr lang="en-US" altLang="ko-KR" sz="900" dirty="0"/>
                    </a:p>
                  </a:txBody>
                  <a:tcPr marL="142646" marR="142646" marT="95098" marB="95098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360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2646" marR="142646" marT="95098" marB="95098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33415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오디오 믹싱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2646" marR="142646" marT="95098" marB="95098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1식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2646" marR="142646" marT="95098" marB="95098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-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2646" marR="142646" marT="95098" marB="95098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33415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500,000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2646" marR="142646" marT="95098" marB="95098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-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2646" marR="142646" marT="95098" marB="95098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33415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500,000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2646" marR="142646" marT="95098" marB="95098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스튜디오/라이선스</a:t>
                      </a:r>
                      <a:endParaRPr lang="en-US" sz="9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2646" marR="142646" marT="95098" marB="95098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6360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기타</a:t>
                      </a:r>
                      <a:endParaRPr lang="en-US" sz="1200" dirty="0"/>
                    </a:p>
                  </a:txBody>
                  <a:tcPr marL="142646" marR="142646" marT="95098" marB="95098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33415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진행비/데이터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2646" marR="142646" marT="95098" marB="95098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1식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2646" marR="142646" marT="95098" marB="95098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-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2646" marR="142646" marT="95098" marB="95098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33415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400,000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2646" marR="142646" marT="95098" marB="95098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-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2646" marR="142646" marT="95098" marB="95098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33415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400,000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2646" marR="142646" marT="95098" marB="95098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프로젝트 관리</a:t>
                      </a:r>
                      <a:endParaRPr lang="en-US" sz="9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2646" marR="142646" marT="95098" marB="95098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63601">
                <a:tc gridSpan="4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합 계 (VAT 별도)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2646" marR="142646" marT="95098" marB="95098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CBD5E1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8,446,610</a:t>
                      </a:r>
                    </a:p>
                  </a:txBody>
                  <a:tcPr marL="142646" marR="142646" marT="95098" marB="95098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CBD5E1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2,253,390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2646" marR="142646" marT="95098" marB="95098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60A5F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10,700,000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2646" marR="142646" marT="95098" marB="95098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2646" marR="142646" marT="95098" marB="95098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Shape 4">
            <a:extLst>
              <a:ext uri="{FF2B5EF4-FFF2-40B4-BE49-F238E27FC236}">
                <a16:creationId xmlns:a16="http://schemas.microsoft.com/office/drawing/2014/main" id="{A6CC2143-C093-DC4B-33BD-F34A676B91E5}"/>
              </a:ext>
            </a:extLst>
          </p:cNvPr>
          <p:cNvSpPr/>
          <p:nvPr/>
        </p:nvSpPr>
        <p:spPr>
          <a:xfrm>
            <a:off x="571500" y="5990235"/>
            <a:ext cx="11048695" cy="705002"/>
          </a:xfrm>
          <a:prstGeom prst="roundRect">
            <a:avLst>
              <a:gd name="adj" fmla="val 1402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8" name="Image 0" descr="preencoded.png">
            <a:extLst>
              <a:ext uri="{FF2B5EF4-FFF2-40B4-BE49-F238E27FC236}">
                <a16:creationId xmlns:a16="http://schemas.microsoft.com/office/drawing/2014/main" id="{EDBEDD78-5751-CE52-C150-144089FA2C9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819302" y="6276442"/>
            <a:ext cx="133502" cy="133502"/>
          </a:xfrm>
          <a:prstGeom prst="rect">
            <a:avLst/>
          </a:prstGeom>
        </p:spPr>
      </p:pic>
      <p:sp>
        <p:nvSpPr>
          <p:cNvPr id="9" name="Text 5">
            <a:extLst>
              <a:ext uri="{FF2B5EF4-FFF2-40B4-BE49-F238E27FC236}">
                <a16:creationId xmlns:a16="http://schemas.microsoft.com/office/drawing/2014/main" id="{346BF938-76B0-FFD8-679C-92E178B129C8}"/>
              </a:ext>
            </a:extLst>
          </p:cNvPr>
          <p:cNvSpPr txBox="1"/>
          <p:nvPr/>
        </p:nvSpPr>
        <p:spPr>
          <a:xfrm>
            <a:off x="1052027" y="6142940"/>
            <a:ext cx="2797596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직접 인건비</a:t>
            </a:r>
            <a:r>
              <a:rPr lang="en-US" sz="10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:</a:t>
            </a: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ko-KR" alt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시각</a:t>
            </a:r>
            <a:r>
              <a:rPr lang="en-US" sz="1000" dirty="0" err="1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디자이너</a:t>
            </a: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000" dirty="0" err="1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등급</a:t>
            </a: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000" dirty="0" err="1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고급</a:t>
            </a: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ko-KR" alt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및 </a:t>
            </a:r>
            <a:r>
              <a:rPr lang="en-US" sz="1000" dirty="0" err="1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중급</a:t>
            </a: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ko-KR" alt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기준</a:t>
            </a:r>
            <a:endParaRPr lang="en-US" sz="1000" dirty="0"/>
          </a:p>
        </p:txBody>
      </p:sp>
      <p:pic>
        <p:nvPicPr>
          <p:cNvPr id="10" name="Image 1" descr="preencoded.png">
            <a:extLst>
              <a:ext uri="{FF2B5EF4-FFF2-40B4-BE49-F238E27FC236}">
                <a16:creationId xmlns:a16="http://schemas.microsoft.com/office/drawing/2014/main" id="{F02D434E-D3AC-5319-7E9D-E135282A64E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962498" y="6276442"/>
            <a:ext cx="133502" cy="133502"/>
          </a:xfrm>
          <a:prstGeom prst="rect">
            <a:avLst/>
          </a:prstGeom>
        </p:spPr>
      </p:pic>
      <p:sp>
        <p:nvSpPr>
          <p:cNvPr id="11" name="Text 6">
            <a:extLst>
              <a:ext uri="{FF2B5EF4-FFF2-40B4-BE49-F238E27FC236}">
                <a16:creationId xmlns:a16="http://schemas.microsoft.com/office/drawing/2014/main" id="{8FAC6D7C-0222-84BE-12FC-ABA77CF78A27}"/>
              </a:ext>
            </a:extLst>
          </p:cNvPr>
          <p:cNvSpPr txBox="1"/>
          <p:nvPr/>
        </p:nvSpPr>
        <p:spPr>
          <a:xfrm>
            <a:off x="6152694" y="6142940"/>
            <a:ext cx="4734764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제경비 포함:</a:t>
            </a: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소프트웨어 라이선스, 장비 감가상각비 등 간접비용이 포함된 견적입니다.</a:t>
            </a:r>
            <a:endParaRPr lang="en-US" sz="1000" dirty="0"/>
          </a:p>
        </p:txBody>
      </p:sp>
      <p:sp>
        <p:nvSpPr>
          <p:cNvPr id="12" name="Text 7">
            <a:extLst>
              <a:ext uri="{FF2B5EF4-FFF2-40B4-BE49-F238E27FC236}">
                <a16:creationId xmlns:a16="http://schemas.microsoft.com/office/drawing/2014/main" id="{89A915AC-7D25-F33F-8597-65EB76FB371D}"/>
              </a:ext>
            </a:extLst>
          </p:cNvPr>
          <p:cNvSpPr txBox="1"/>
          <p:nvPr/>
        </p:nvSpPr>
        <p:spPr>
          <a:xfrm>
            <a:off x="3625919" y="6276442"/>
            <a:ext cx="1955275" cy="2878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*2025년 </a:t>
            </a:r>
            <a:r>
              <a:rPr lang="ko-KR" altLang="en-US" sz="9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디자이너 </a:t>
            </a:r>
            <a:r>
              <a:rPr lang="en-US" sz="900" dirty="0" err="1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노임단가</a:t>
            </a:r>
            <a:r>
              <a:rPr lang="en-US" sz="9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기준 적용</a:t>
            </a:r>
            <a:endParaRPr lang="en-US" sz="900" dirty="0"/>
          </a:p>
        </p:txBody>
      </p:sp>
      <p:sp>
        <p:nvSpPr>
          <p:cNvPr id="15" name="Text 10">
            <a:extLst>
              <a:ext uri="{FF2B5EF4-FFF2-40B4-BE49-F238E27FC236}">
                <a16:creationId xmlns:a16="http://schemas.microsoft.com/office/drawing/2014/main" id="{7E45F399-BD91-7964-E6C5-65B65D10DF65}"/>
              </a:ext>
            </a:extLst>
          </p:cNvPr>
          <p:cNvSpPr txBox="1"/>
          <p:nvPr/>
        </p:nvSpPr>
        <p:spPr>
          <a:xfrm>
            <a:off x="571500" y="381305"/>
            <a:ext cx="11354105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3100" b="1" kern="0" spc="-75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영상 제작 </a:t>
            </a:r>
            <a:r>
              <a:rPr lang="en-US" altLang="ko-KR" sz="3100" b="1" kern="0" spc="-75" dirty="0" err="1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견적</a:t>
            </a:r>
            <a:r>
              <a:rPr lang="en-US" altLang="ko-KR" sz="3100" b="1" kern="0" spc="-75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ko-KR" altLang="en-US" sz="3100" b="1" kern="0" spc="-75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상세</a:t>
            </a:r>
            <a:endParaRPr lang="en-US" altLang="ko-KR" sz="3100" dirty="0"/>
          </a:p>
        </p:txBody>
      </p:sp>
      <p:sp>
        <p:nvSpPr>
          <p:cNvPr id="16" name="Text 11">
            <a:extLst>
              <a:ext uri="{FF2B5EF4-FFF2-40B4-BE49-F238E27FC236}">
                <a16:creationId xmlns:a16="http://schemas.microsoft.com/office/drawing/2014/main" id="{A63564E7-84B7-68C7-B2DC-F55C5C405B0D}"/>
              </a:ext>
            </a:extLst>
          </p:cNvPr>
          <p:cNvSpPr txBox="1"/>
          <p:nvPr/>
        </p:nvSpPr>
        <p:spPr>
          <a:xfrm>
            <a:off x="628649" y="929031"/>
            <a:ext cx="11239805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3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인건비</a:t>
            </a:r>
            <a:r>
              <a:rPr lang="en-US" sz="13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제경비/기술료 분리 산출 내역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25887103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C68E7B0-DAA1-EBED-4184-5DA1114D0B09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0EF0491E-8759-F19E-E6C7-7508DC2F4D0B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2FF4D4B8-58D2-4D50-4CE4-25EBACE8DEB3}"/>
              </a:ext>
            </a:extLst>
          </p:cNvPr>
          <p:cNvSpPr/>
          <p:nvPr/>
        </p:nvSpPr>
        <p:spPr>
          <a:xfrm>
            <a:off x="0" y="1363371"/>
            <a:ext cx="12191695" cy="549463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4FF2A34E-5A75-FBB6-BC4F-0FA22B7CD94A}"/>
              </a:ext>
            </a:extLst>
          </p:cNvPr>
          <p:cNvSpPr/>
          <p:nvPr/>
        </p:nvSpPr>
        <p:spPr>
          <a:xfrm>
            <a:off x="571500" y="1777099"/>
            <a:ext cx="6400800" cy="4839005"/>
          </a:xfrm>
          <a:prstGeom prst="roundRect">
            <a:avLst>
              <a:gd name="adj" fmla="val 44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3262D050-3F6D-E60B-ADFB-D6B811FBB726}"/>
              </a:ext>
            </a:extLst>
          </p:cNvPr>
          <p:cNvSpPr/>
          <p:nvPr/>
        </p:nvSpPr>
        <p:spPr>
          <a:xfrm>
            <a:off x="580644" y="1787158"/>
            <a:ext cx="6381598" cy="571500"/>
          </a:xfrm>
          <a:prstGeom prst="roundRect">
            <a:avLst>
              <a:gd name="adj" fmla="val 32000"/>
            </a:avLst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A4B0AE89-3A50-7DCA-2646-A0D4CA506EBF}"/>
              </a:ext>
            </a:extLst>
          </p:cNvPr>
          <p:cNvSpPr/>
          <p:nvPr/>
        </p:nvSpPr>
        <p:spPr>
          <a:xfrm>
            <a:off x="580644" y="2349514"/>
            <a:ext cx="6381598" cy="9144"/>
          </a:xfrm>
          <a:prstGeom prst="roundRect">
            <a:avLst>
              <a:gd name="adj" fmla="val 2000000"/>
            </a:avLst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784243CB-CEAD-22FB-C421-E140AC4A0221}"/>
              </a:ext>
            </a:extLst>
          </p:cNvPr>
          <p:cNvSpPr txBox="1"/>
          <p:nvPr/>
        </p:nvSpPr>
        <p:spPr>
          <a:xfrm>
            <a:off x="809244" y="1938948"/>
            <a:ext cx="274320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제경비 구성 항목 및 산출 근거</a:t>
            </a:r>
            <a:endParaRPr lang="en-US" sz="1300" dirty="0"/>
          </a:p>
        </p:txBody>
      </p:sp>
      <p:pic>
        <p:nvPicPr>
          <p:cNvPr id="9" name="Image 0" descr="preencoded.png">
            <a:extLst>
              <a:ext uri="{FF2B5EF4-FFF2-40B4-BE49-F238E27FC236}">
                <a16:creationId xmlns:a16="http://schemas.microsoft.com/office/drawing/2014/main" id="{C8D55936-6A0E-1988-D079-AB3A8D0543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8656" y="1929804"/>
            <a:ext cx="1485900" cy="276149"/>
          </a:xfrm>
          <a:prstGeom prst="rect">
            <a:avLst/>
          </a:prstGeom>
        </p:spPr>
      </p:pic>
      <p:sp>
        <p:nvSpPr>
          <p:cNvPr id="10" name="Text 7">
            <a:extLst>
              <a:ext uri="{FF2B5EF4-FFF2-40B4-BE49-F238E27FC236}">
                <a16:creationId xmlns:a16="http://schemas.microsoft.com/office/drawing/2014/main" id="{3C8ECB9D-233E-2844-66C9-D5C411515C96}"/>
              </a:ext>
            </a:extLst>
          </p:cNvPr>
          <p:cNvSpPr/>
          <p:nvPr/>
        </p:nvSpPr>
        <p:spPr>
          <a:xfrm>
            <a:off x="5248656" y="1929804"/>
            <a:ext cx="1485900" cy="2770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B82F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직접 인건비의 약 33.4%</a:t>
            </a:r>
            <a:endParaRPr lang="en-US" sz="1000" dirty="0"/>
          </a:p>
        </p:txBody>
      </p:sp>
      <p:graphicFrame>
        <p:nvGraphicFramePr>
          <p:cNvPr id="11" name="Table 0">
            <a:extLst>
              <a:ext uri="{FF2B5EF4-FFF2-40B4-BE49-F238E27FC236}">
                <a16:creationId xmlns:a16="http://schemas.microsoft.com/office/drawing/2014/main" id="{2753512C-99EB-FDC8-9259-3420D1D30A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3338064"/>
              </p:ext>
            </p:extLst>
          </p:nvPr>
        </p:nvGraphicFramePr>
        <p:xfrm>
          <a:off x="580644" y="2372232"/>
          <a:ext cx="6380684" cy="3208545"/>
        </p:xfrm>
        <a:graphic>
          <a:graphicData uri="http://schemas.openxmlformats.org/drawingml/2006/table">
            <a:tbl>
              <a:tblPr/>
              <a:tblGrid>
                <a:gridCol w="15883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82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5693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7721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7000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475569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항목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90195" marR="190195" marT="114300" marB="114300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475569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구성 내용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90195" marR="190195" marT="114300" marB="114300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475569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비중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90195" marR="190195" marT="114300" marB="114300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475569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금액 (원)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90195" marR="190195" marT="114300" marB="114300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000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33415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장비 감가상각비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90195" marR="190195" marT="133502" marB="133502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표준 워크스테이션 PC 및 주변기기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90195" marR="190195" marT="133502" marB="133502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5.3%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90195" marR="190195" marT="133502" marB="133502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33415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180,000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90195" marR="190195" marT="133502" marB="133502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000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33415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소프트웨어/데이터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90195" marR="190195" marT="133502" marB="133502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Adobe CC 구독료, 폰트/이미지 라이선스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90195" marR="190195" marT="133502" marB="133502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8.0%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90195" marR="190195" marT="133502" marB="133502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33415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270,000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90195" marR="190195" marT="133502" marB="133502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951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33415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일반 관리비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90195" marR="190195" marT="133502" marB="133502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사무실 임대료, 통신비, 공과금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90195" marR="190195" marT="133502" marB="133502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10.0%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90195" marR="190195" marT="133502" marB="133502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33415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337,300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90195" marR="190195" marT="133502" marB="133502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951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33415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기술료 (이윤)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90195" marR="190195" marT="133502" marB="133502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기업 이윤, 하자 보수(A/S) 예비비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90195" marR="190195" marT="133502" marB="133502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10.1%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90195" marR="190195" marT="133502" marB="133502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33415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339,395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90195" marR="190195" marT="133502" marB="133502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951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합계 (Total)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90195" marR="190195" marT="133502" marB="133502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제경비 및 기술료 총액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90195" marR="190195" marT="133502" marB="133502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33.4%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90195" marR="190195" marT="133502" marB="133502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1,126,695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90195" marR="190195" marT="133502" marB="133502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2" name="Shape 8">
            <a:extLst>
              <a:ext uri="{FF2B5EF4-FFF2-40B4-BE49-F238E27FC236}">
                <a16:creationId xmlns:a16="http://schemas.microsoft.com/office/drawing/2014/main" id="{40F345E1-7E9E-D22E-52BF-FFFC97ED8154}"/>
              </a:ext>
            </a:extLst>
          </p:cNvPr>
          <p:cNvSpPr/>
          <p:nvPr/>
        </p:nvSpPr>
        <p:spPr>
          <a:xfrm>
            <a:off x="7353605" y="1777099"/>
            <a:ext cx="4267505" cy="3276295"/>
          </a:xfrm>
          <a:prstGeom prst="roundRect">
            <a:avLst>
              <a:gd name="adj" fmla="val 97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CD78CFF7-514D-5DAD-F4E8-CBA68025D4E8}"/>
              </a:ext>
            </a:extLst>
          </p:cNvPr>
          <p:cNvSpPr txBox="1"/>
          <p:nvPr/>
        </p:nvSpPr>
        <p:spPr>
          <a:xfrm>
            <a:off x="9023299" y="2015758"/>
            <a:ext cx="117134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비용 구성 비율</a:t>
            </a:r>
            <a:endParaRPr lang="en-US" sz="1200" dirty="0"/>
          </a:p>
        </p:txBody>
      </p:sp>
      <p:sp>
        <p:nvSpPr>
          <p:cNvPr id="15" name="Shape 10">
            <a:extLst>
              <a:ext uri="{FF2B5EF4-FFF2-40B4-BE49-F238E27FC236}">
                <a16:creationId xmlns:a16="http://schemas.microsoft.com/office/drawing/2014/main" id="{567BFFF7-9BCB-7165-2B9B-11B30BD8FFEE}"/>
              </a:ext>
            </a:extLst>
          </p:cNvPr>
          <p:cNvSpPr/>
          <p:nvPr/>
        </p:nvSpPr>
        <p:spPr>
          <a:xfrm>
            <a:off x="7353605" y="5244504"/>
            <a:ext cx="4267505" cy="1371600"/>
          </a:xfrm>
          <a:prstGeom prst="roundRect">
            <a:avLst>
              <a:gd name="adj" fmla="val 5556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1">
            <a:extLst>
              <a:ext uri="{FF2B5EF4-FFF2-40B4-BE49-F238E27FC236}">
                <a16:creationId xmlns:a16="http://schemas.microsoft.com/office/drawing/2014/main" id="{C055D169-FF8A-009D-872E-969E4AE7D4C5}"/>
              </a:ext>
            </a:extLst>
          </p:cNvPr>
          <p:cNvSpPr txBox="1"/>
          <p:nvPr/>
        </p:nvSpPr>
        <p:spPr>
          <a:xfrm>
            <a:off x="7739012" y="5455391"/>
            <a:ext cx="38295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200" b="1" dirty="0" err="1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참고사항</a:t>
            </a:r>
            <a:endParaRPr lang="en-US" sz="1200" dirty="0"/>
          </a:p>
        </p:txBody>
      </p:sp>
      <p:pic>
        <p:nvPicPr>
          <p:cNvPr id="17" name="Image 2" descr="preencoded.png">
            <a:extLst>
              <a:ext uri="{FF2B5EF4-FFF2-40B4-BE49-F238E27FC236}">
                <a16:creationId xmlns:a16="http://schemas.microsoft.com/office/drawing/2014/main" id="{191BF30B-097E-864E-B46C-723315AF67D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552944" y="5482248"/>
            <a:ext cx="152705" cy="152705"/>
          </a:xfrm>
          <a:prstGeom prst="rect">
            <a:avLst/>
          </a:prstGeom>
        </p:spPr>
      </p:pic>
      <p:sp>
        <p:nvSpPr>
          <p:cNvPr id="18" name="Text 12">
            <a:extLst>
              <a:ext uri="{FF2B5EF4-FFF2-40B4-BE49-F238E27FC236}">
                <a16:creationId xmlns:a16="http://schemas.microsoft.com/office/drawing/2014/main" id="{3328C4AF-7B6D-1CA9-68DE-FE669BEFE7FE}"/>
              </a:ext>
            </a:extLst>
          </p:cNvPr>
          <p:cNvSpPr txBox="1"/>
          <p:nvPr/>
        </p:nvSpPr>
        <p:spPr>
          <a:xfrm>
            <a:off x="7552944" y="5768455"/>
            <a:ext cx="3943807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본 견적의 제경비 및 기술료는 실제 프로젝트 수행에 필수적인 </a:t>
            </a:r>
            <a:r>
              <a:rPr lang="en-US" sz="1000" b="1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최소한의 장비 및 소프트웨어 운용 비용</a:t>
            </a:r>
            <a:r>
              <a:rPr lang="en-US" sz="1000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과 안정적인 과업 수행을 위한 관리비용으로 산정되었습니다. </a:t>
            </a:r>
            <a:endParaRPr lang="en-US" sz="1000" dirty="0"/>
          </a:p>
        </p:txBody>
      </p:sp>
      <p:sp>
        <p:nvSpPr>
          <p:cNvPr id="19" name="Shape 13">
            <a:extLst>
              <a:ext uri="{FF2B5EF4-FFF2-40B4-BE49-F238E27FC236}">
                <a16:creationId xmlns:a16="http://schemas.microsoft.com/office/drawing/2014/main" id="{DEFF604A-BE7A-7274-977F-3AF67C87AC11}"/>
              </a:ext>
            </a:extLst>
          </p:cNvPr>
          <p:cNvSpPr/>
          <p:nvPr/>
        </p:nvSpPr>
        <p:spPr>
          <a:xfrm>
            <a:off x="0" y="1"/>
            <a:ext cx="12191695" cy="131490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4">
            <a:extLst>
              <a:ext uri="{FF2B5EF4-FFF2-40B4-BE49-F238E27FC236}">
                <a16:creationId xmlns:a16="http://schemas.microsoft.com/office/drawing/2014/main" id="{14C66B37-28C7-1F79-054D-FA6172613EDB}"/>
              </a:ext>
            </a:extLst>
          </p:cNvPr>
          <p:cNvSpPr/>
          <p:nvPr/>
        </p:nvSpPr>
        <p:spPr>
          <a:xfrm>
            <a:off x="0" y="1357735"/>
            <a:ext cx="12191695" cy="1920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5">
            <a:extLst>
              <a:ext uri="{FF2B5EF4-FFF2-40B4-BE49-F238E27FC236}">
                <a16:creationId xmlns:a16="http://schemas.microsoft.com/office/drawing/2014/main" id="{256BAB0E-288D-E37A-F6AD-E1A8F831429C}"/>
              </a:ext>
            </a:extLst>
          </p:cNvPr>
          <p:cNvSpPr txBox="1"/>
          <p:nvPr/>
        </p:nvSpPr>
        <p:spPr>
          <a:xfrm>
            <a:off x="571500" y="381305"/>
            <a:ext cx="11354105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kern="0" spc="-75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제경비 및 기술료 상세 구성 내역</a:t>
            </a:r>
            <a:endParaRPr lang="en-US" sz="3100" dirty="0"/>
          </a:p>
        </p:txBody>
      </p:sp>
      <p:sp>
        <p:nvSpPr>
          <p:cNvPr id="22" name="Text 16">
            <a:extLst>
              <a:ext uri="{FF2B5EF4-FFF2-40B4-BE49-F238E27FC236}">
                <a16:creationId xmlns:a16="http://schemas.microsoft.com/office/drawing/2014/main" id="{B76D9508-720D-0694-23E2-0A06645B37E7}"/>
              </a:ext>
            </a:extLst>
          </p:cNvPr>
          <p:cNvSpPr txBox="1"/>
          <p:nvPr/>
        </p:nvSpPr>
        <p:spPr>
          <a:xfrm>
            <a:off x="571500" y="1057046"/>
            <a:ext cx="11239805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300" dirty="0"/>
          </a:p>
        </p:txBody>
      </p:sp>
      <p:pic>
        <p:nvPicPr>
          <p:cNvPr id="24" name="Image 1" descr="preencoded.png">
            <a:extLst>
              <a:ext uri="{FF2B5EF4-FFF2-40B4-BE49-F238E27FC236}">
                <a16:creationId xmlns:a16="http://schemas.microsoft.com/office/drawing/2014/main" id="{A3017F3B-1C3F-914F-A8EC-D119D577422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5" r="-5"/>
          <a:stretch/>
        </p:blipFill>
        <p:spPr>
          <a:xfrm>
            <a:off x="7591349" y="2562149"/>
            <a:ext cx="3791102" cy="2381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09626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147</TotalTime>
  <Words>673</Words>
  <Application>Microsoft Office PowerPoint</Application>
  <PresentationFormat>와이드스크린</PresentationFormat>
  <Paragraphs>198</Paragraphs>
  <Slides>6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9" baseType="lpstr">
      <vt:lpstr>Noto Sans KR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박주우</cp:lastModifiedBy>
  <cp:revision>3</cp:revision>
  <dcterms:created xsi:type="dcterms:W3CDTF">2026-02-19T03:39:59Z</dcterms:created>
  <dcterms:modified xsi:type="dcterms:W3CDTF">2026-02-19T06:12:28Z</dcterms:modified>
</cp:coreProperties>
</file>